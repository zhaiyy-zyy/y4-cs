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6"/>
  </p:notesMasterIdLst>
  <p:handoutMasterIdLst>
    <p:handoutMasterId r:id="rId7"/>
  </p:handoutMasterIdLst>
  <p:sldIdLst>
    <p:sldId id="269" r:id="rId5"/>
  </p:sldIdLst>
  <p:sldSz cx="6858000" cy="9906000" type="A4"/>
  <p:notesSz cx="6858000" cy="9144000"/>
  <p:defaultTextStyle>
    <a:defPPr>
      <a:defRPr lang="en-US"/>
    </a:defPPr>
    <a:lvl1pPr marL="0" algn="l" defTabSz="684154" rtl="0" eaLnBrk="1" latinLnBrk="0" hangingPunct="1">
      <a:defRPr sz="1347" kern="1200">
        <a:solidFill>
          <a:schemeClr val="tx1"/>
        </a:solidFill>
        <a:latin typeface="+mn-lt"/>
        <a:ea typeface="+mn-ea"/>
        <a:cs typeface="+mn-cs"/>
      </a:defRPr>
    </a:lvl1pPr>
    <a:lvl2pPr marL="342077" algn="l" defTabSz="684154" rtl="0" eaLnBrk="1" latinLnBrk="0" hangingPunct="1">
      <a:defRPr sz="1347" kern="1200">
        <a:solidFill>
          <a:schemeClr val="tx1"/>
        </a:solidFill>
        <a:latin typeface="+mn-lt"/>
        <a:ea typeface="+mn-ea"/>
        <a:cs typeface="+mn-cs"/>
      </a:defRPr>
    </a:lvl2pPr>
    <a:lvl3pPr marL="684154" algn="l" defTabSz="684154" rtl="0" eaLnBrk="1" latinLnBrk="0" hangingPunct="1">
      <a:defRPr sz="1347" kern="1200">
        <a:solidFill>
          <a:schemeClr val="tx1"/>
        </a:solidFill>
        <a:latin typeface="+mn-lt"/>
        <a:ea typeface="+mn-ea"/>
        <a:cs typeface="+mn-cs"/>
      </a:defRPr>
    </a:lvl3pPr>
    <a:lvl4pPr marL="1026231" algn="l" defTabSz="684154" rtl="0" eaLnBrk="1" latinLnBrk="0" hangingPunct="1">
      <a:defRPr sz="1347" kern="1200">
        <a:solidFill>
          <a:schemeClr val="tx1"/>
        </a:solidFill>
        <a:latin typeface="+mn-lt"/>
        <a:ea typeface="+mn-ea"/>
        <a:cs typeface="+mn-cs"/>
      </a:defRPr>
    </a:lvl4pPr>
    <a:lvl5pPr marL="1368308" algn="l" defTabSz="684154" rtl="0" eaLnBrk="1" latinLnBrk="0" hangingPunct="1">
      <a:defRPr sz="1347" kern="1200">
        <a:solidFill>
          <a:schemeClr val="tx1"/>
        </a:solidFill>
        <a:latin typeface="+mn-lt"/>
        <a:ea typeface="+mn-ea"/>
        <a:cs typeface="+mn-cs"/>
      </a:defRPr>
    </a:lvl5pPr>
    <a:lvl6pPr marL="1710385" algn="l" defTabSz="684154" rtl="0" eaLnBrk="1" latinLnBrk="0" hangingPunct="1">
      <a:defRPr sz="1347" kern="1200">
        <a:solidFill>
          <a:schemeClr val="tx1"/>
        </a:solidFill>
        <a:latin typeface="+mn-lt"/>
        <a:ea typeface="+mn-ea"/>
        <a:cs typeface="+mn-cs"/>
      </a:defRPr>
    </a:lvl6pPr>
    <a:lvl7pPr marL="2052462" algn="l" defTabSz="684154" rtl="0" eaLnBrk="1" latinLnBrk="0" hangingPunct="1">
      <a:defRPr sz="1347" kern="1200">
        <a:solidFill>
          <a:schemeClr val="tx1"/>
        </a:solidFill>
        <a:latin typeface="+mn-lt"/>
        <a:ea typeface="+mn-ea"/>
        <a:cs typeface="+mn-cs"/>
      </a:defRPr>
    </a:lvl7pPr>
    <a:lvl8pPr marL="2394539" algn="l" defTabSz="684154" rtl="0" eaLnBrk="1" latinLnBrk="0" hangingPunct="1">
      <a:defRPr sz="1347" kern="1200">
        <a:solidFill>
          <a:schemeClr val="tx1"/>
        </a:solidFill>
        <a:latin typeface="+mn-lt"/>
        <a:ea typeface="+mn-ea"/>
        <a:cs typeface="+mn-cs"/>
      </a:defRPr>
    </a:lvl8pPr>
    <a:lvl9pPr marL="2736616" algn="l" defTabSz="684154" rtl="0" eaLnBrk="1" latinLnBrk="0" hangingPunct="1">
      <a:defRPr sz="1347" kern="1200">
        <a:solidFill>
          <a:schemeClr val="tx1"/>
        </a:solidFill>
        <a:latin typeface="+mn-lt"/>
        <a:ea typeface="+mn-ea"/>
        <a:cs typeface="+mn-cs"/>
      </a:defRPr>
    </a:lvl9pPr>
  </p:defaultTextStyle>
  <p:extLst>
    <p:ext uri="{521415D9-36F7-43E2-AB2F-B90AF26B5E84}">
      <p14:sectionLst xmlns:p14="http://schemas.microsoft.com/office/powerpoint/2010/main">
        <p14:section name="Poster" id="{E4CE66D5-51B2-4221-BDE9-EB6FBEC7E7C7}">
          <p14:sldIdLst>
            <p14:sldId id="269"/>
          </p14:sldIdLst>
        </p14:section>
      </p14:sectionLst>
    </p:ext>
    <p:ext uri="{EFAFB233-063F-42B5-8137-9DF3F51BA10A}">
      <p15:sldGuideLst xmlns:p15="http://schemas.microsoft.com/office/powerpoint/2012/main">
        <p15:guide id="1" orient="horz" pos="3185" userDrawn="1">
          <p15:clr>
            <a:srgbClr val="A4A3A4"/>
          </p15:clr>
        </p15:guide>
        <p15:guide id="2" pos="2160" userDrawn="1">
          <p15:clr>
            <a:srgbClr val="A4A3A4"/>
          </p15:clr>
        </p15:guide>
        <p15:guide id="3" pos="1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3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93" autoAdjust="0"/>
    <p:restoredTop sz="94600" autoAdjust="0"/>
  </p:normalViewPr>
  <p:slideViewPr>
    <p:cSldViewPr snapToGrid="0">
      <p:cViewPr varScale="1">
        <p:scale>
          <a:sx n="58" d="100"/>
          <a:sy n="58" d="100"/>
        </p:scale>
        <p:origin x="2246" y="58"/>
      </p:cViewPr>
      <p:guideLst>
        <p:guide orient="horz" pos="3185"/>
        <p:guide pos="2160"/>
        <p:guide pos="176"/>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p:cViewPr varScale="1">
        <p:scale>
          <a:sx n="151" d="100"/>
          <a:sy n="151" d="100"/>
        </p:scale>
        <p:origin x="4640" y="200"/>
      </p:cViewPr>
      <p:guideLst/>
    </p:cSldViewPr>
  </p:notesViewPr>
  <p:gridSpacing cx="182880" cy="18288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dirty="0">
                <a:latin typeface="Arial" panose="020B0604020202020204" pitchFamily="34" charset="0"/>
              </a:rPr>
              <a:t>The University of Nottingham</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D04BF2-D7DF-479C-9EF9-FF247B43B6E6}" type="datetime1">
              <a:rPr lang="en-GB" smtClean="0">
                <a:latin typeface="Arial" panose="020B0604020202020204" pitchFamily="34" charset="0"/>
              </a:rPr>
              <a:t>13/03/2023</a:t>
            </a:fld>
            <a:endParaRPr lang="en-GB"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GB" dirty="0">
                <a:latin typeface="Arial" panose="020B0604020202020204" pitchFamily="34" charset="0"/>
              </a:rPr>
              <a:t>Your Department Name etc</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DEDAF-6BFF-4ECB-9F4E-2D4AAE5E0143}" type="slidenum">
              <a:rPr lang="en-GB" smtClean="0">
                <a:latin typeface="Arial" panose="020B0604020202020204" pitchFamily="34" charset="0"/>
              </a:rPr>
              <a:t>‹#›</a:t>
            </a:fld>
            <a:endParaRPr lang="en-GB" dirty="0">
              <a:latin typeface="Arial" panose="020B0604020202020204" pitchFamily="34" charset="0"/>
            </a:endParaRPr>
          </a:p>
        </p:txBody>
      </p:sp>
    </p:spTree>
    <p:extLst>
      <p:ext uri="{BB962C8B-B14F-4D97-AF65-F5344CB8AC3E}">
        <p14:creationId xmlns:p14="http://schemas.microsoft.com/office/powerpoint/2010/main" val="7676631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The University of Nottingham</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84AD9-1202-424F-8F1E-1DE5EBE3F39C}" type="datetime1">
              <a:rPr lang="en-GB" smtClean="0"/>
              <a:t>13/03/2023</a:t>
            </a:fld>
            <a:endParaRPr lang="en-GB"/>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Your Department Name etc</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4AF5A3-63BC-4A87-859D-8ED86BB4B4B5}" type="slidenum">
              <a:rPr lang="en-GB" smtClean="0"/>
              <a:t>‹#›</a:t>
            </a:fld>
            <a:endParaRPr lang="en-GB"/>
          </a:p>
        </p:txBody>
      </p:sp>
    </p:spTree>
    <p:extLst>
      <p:ext uri="{BB962C8B-B14F-4D97-AF65-F5344CB8AC3E}">
        <p14:creationId xmlns:p14="http://schemas.microsoft.com/office/powerpoint/2010/main" val="2347018219"/>
      </p:ext>
    </p:extLst>
  </p:cSld>
  <p:clrMap bg1="lt1" tx1="dk1" bg2="lt2" tx2="dk2" accent1="accent1" accent2="accent2" accent3="accent3" accent4="accent4" accent5="accent5" accent6="accent6" hlink="hlink" folHlink="folHlink"/>
  <p:hf/>
  <p:notesStyle>
    <a:lvl1pPr marL="0" algn="l" defTabSz="684154" rtl="0" eaLnBrk="1" latinLnBrk="0" hangingPunct="1">
      <a:defRPr sz="898" kern="1200">
        <a:solidFill>
          <a:schemeClr val="tx1"/>
        </a:solidFill>
        <a:latin typeface="+mn-lt"/>
        <a:ea typeface="+mn-ea"/>
        <a:cs typeface="+mn-cs"/>
      </a:defRPr>
    </a:lvl1pPr>
    <a:lvl2pPr marL="342077" algn="l" defTabSz="684154" rtl="0" eaLnBrk="1" latinLnBrk="0" hangingPunct="1">
      <a:defRPr sz="898" kern="1200">
        <a:solidFill>
          <a:schemeClr val="tx1"/>
        </a:solidFill>
        <a:latin typeface="+mn-lt"/>
        <a:ea typeface="+mn-ea"/>
        <a:cs typeface="+mn-cs"/>
      </a:defRPr>
    </a:lvl2pPr>
    <a:lvl3pPr marL="684154" algn="l" defTabSz="684154" rtl="0" eaLnBrk="1" latinLnBrk="0" hangingPunct="1">
      <a:defRPr sz="898" kern="1200">
        <a:solidFill>
          <a:schemeClr val="tx1"/>
        </a:solidFill>
        <a:latin typeface="+mn-lt"/>
        <a:ea typeface="+mn-ea"/>
        <a:cs typeface="+mn-cs"/>
      </a:defRPr>
    </a:lvl3pPr>
    <a:lvl4pPr marL="1026231" algn="l" defTabSz="684154" rtl="0" eaLnBrk="1" latinLnBrk="0" hangingPunct="1">
      <a:defRPr sz="898" kern="1200">
        <a:solidFill>
          <a:schemeClr val="tx1"/>
        </a:solidFill>
        <a:latin typeface="+mn-lt"/>
        <a:ea typeface="+mn-ea"/>
        <a:cs typeface="+mn-cs"/>
      </a:defRPr>
    </a:lvl4pPr>
    <a:lvl5pPr marL="1368308" algn="l" defTabSz="684154" rtl="0" eaLnBrk="1" latinLnBrk="0" hangingPunct="1">
      <a:defRPr sz="898" kern="1200">
        <a:solidFill>
          <a:schemeClr val="tx1"/>
        </a:solidFill>
        <a:latin typeface="+mn-lt"/>
        <a:ea typeface="+mn-ea"/>
        <a:cs typeface="+mn-cs"/>
      </a:defRPr>
    </a:lvl5pPr>
    <a:lvl6pPr marL="1710385" algn="l" defTabSz="684154" rtl="0" eaLnBrk="1" latinLnBrk="0" hangingPunct="1">
      <a:defRPr sz="898" kern="1200">
        <a:solidFill>
          <a:schemeClr val="tx1"/>
        </a:solidFill>
        <a:latin typeface="+mn-lt"/>
        <a:ea typeface="+mn-ea"/>
        <a:cs typeface="+mn-cs"/>
      </a:defRPr>
    </a:lvl6pPr>
    <a:lvl7pPr marL="2052462" algn="l" defTabSz="684154" rtl="0" eaLnBrk="1" latinLnBrk="0" hangingPunct="1">
      <a:defRPr sz="898" kern="1200">
        <a:solidFill>
          <a:schemeClr val="tx1"/>
        </a:solidFill>
        <a:latin typeface="+mn-lt"/>
        <a:ea typeface="+mn-ea"/>
        <a:cs typeface="+mn-cs"/>
      </a:defRPr>
    </a:lvl7pPr>
    <a:lvl8pPr marL="2394539" algn="l" defTabSz="684154" rtl="0" eaLnBrk="1" latinLnBrk="0" hangingPunct="1">
      <a:defRPr sz="898" kern="1200">
        <a:solidFill>
          <a:schemeClr val="tx1"/>
        </a:solidFill>
        <a:latin typeface="+mn-lt"/>
        <a:ea typeface="+mn-ea"/>
        <a:cs typeface="+mn-cs"/>
      </a:defRPr>
    </a:lvl8pPr>
    <a:lvl9pPr marL="2736616" algn="l" defTabSz="684154" rtl="0" eaLnBrk="1" latinLnBrk="0" hangingPunct="1">
      <a:defRPr sz="89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0613" y="1143000"/>
            <a:ext cx="2136775" cy="3086100"/>
          </a:xfrm>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idx="10"/>
          </p:nvPr>
        </p:nvSpPr>
        <p:spPr/>
        <p:txBody>
          <a:bodyPr/>
          <a:lstStyle/>
          <a:p>
            <a:r>
              <a:rPr lang="en-GB"/>
              <a:t>The University of Nottingham</a:t>
            </a:r>
          </a:p>
        </p:txBody>
      </p:sp>
      <p:sp>
        <p:nvSpPr>
          <p:cNvPr id="5" name="Date Placeholder 4"/>
          <p:cNvSpPr>
            <a:spLocks noGrp="1"/>
          </p:cNvSpPr>
          <p:nvPr>
            <p:ph type="dt" idx="11"/>
          </p:nvPr>
        </p:nvSpPr>
        <p:spPr/>
        <p:txBody>
          <a:bodyPr/>
          <a:lstStyle/>
          <a:p>
            <a:fld id="{89084AD9-1202-424F-8F1E-1DE5EBE3F39C}" type="datetime1">
              <a:rPr lang="en-GB" smtClean="0"/>
              <a:t>13/03/2023</a:t>
            </a:fld>
            <a:endParaRPr lang="en-GB"/>
          </a:p>
        </p:txBody>
      </p:sp>
      <p:sp>
        <p:nvSpPr>
          <p:cNvPr id="6" name="Footer Placeholder 5"/>
          <p:cNvSpPr>
            <a:spLocks noGrp="1"/>
          </p:cNvSpPr>
          <p:nvPr>
            <p:ph type="ftr" sz="quarter" idx="12"/>
          </p:nvPr>
        </p:nvSpPr>
        <p:spPr/>
        <p:txBody>
          <a:bodyPr/>
          <a:lstStyle/>
          <a:p>
            <a:r>
              <a:rPr lang="en-GB"/>
              <a:t>Your Department Name etc</a:t>
            </a:r>
          </a:p>
        </p:txBody>
      </p:sp>
      <p:sp>
        <p:nvSpPr>
          <p:cNvPr id="7" name="Slide Number Placeholder 6"/>
          <p:cNvSpPr>
            <a:spLocks noGrp="1"/>
          </p:cNvSpPr>
          <p:nvPr>
            <p:ph type="sldNum" sz="quarter" idx="13"/>
          </p:nvPr>
        </p:nvSpPr>
        <p:spPr/>
        <p:txBody>
          <a:bodyPr/>
          <a:lstStyle/>
          <a:p>
            <a:fld id="{754AF5A3-63BC-4A87-859D-8ED86BB4B4B5}" type="slidenum">
              <a:rPr lang="en-GB" smtClean="0"/>
              <a:t>1</a:t>
            </a:fld>
            <a:endParaRPr lang="en-GB"/>
          </a:p>
        </p:txBody>
      </p:sp>
    </p:spTree>
    <p:extLst>
      <p:ext uri="{BB962C8B-B14F-4D97-AF65-F5344CB8AC3E}">
        <p14:creationId xmlns:p14="http://schemas.microsoft.com/office/powerpoint/2010/main" val="3582324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Title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4966295" y="9181398"/>
            <a:ext cx="1635810" cy="527403"/>
          </a:xfrm>
        </p:spPr>
        <p:txBody>
          <a:bodyPr/>
          <a:lstStyle/>
          <a:p>
            <a:fld id="{CBBF530E-1875-46E6-901C-76683197A1B3}" type="slidenum">
              <a:rPr lang="en-GB" smtClean="0"/>
              <a:pPr/>
              <a:t>‹#›</a:t>
            </a:fld>
            <a:endParaRPr lang="en-GB"/>
          </a:p>
        </p:txBody>
      </p:sp>
      <p:sp>
        <p:nvSpPr>
          <p:cNvPr id="2" name="Title 1"/>
          <p:cNvSpPr>
            <a:spLocks noGrp="1"/>
          </p:cNvSpPr>
          <p:nvPr>
            <p:ph type="title" hasCustomPrompt="1"/>
          </p:nvPr>
        </p:nvSpPr>
        <p:spPr>
          <a:xfrm>
            <a:off x="651510" y="-7888"/>
            <a:ext cx="5950595" cy="1495072"/>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11" name="Date Placeholder 2">
            <a:extLst>
              <a:ext uri="{FF2B5EF4-FFF2-40B4-BE49-F238E27FC236}">
                <a16:creationId xmlns:a16="http://schemas.microsoft.com/office/drawing/2014/main" id="{27851B81-1328-7543-96B8-61F01F01B73D}"/>
              </a:ext>
            </a:extLst>
          </p:cNvPr>
          <p:cNvSpPr>
            <a:spLocks noGrp="1"/>
          </p:cNvSpPr>
          <p:nvPr>
            <p:ph type="dt" sz="half" idx="10"/>
          </p:nvPr>
        </p:nvSpPr>
        <p:spPr>
          <a:xfrm>
            <a:off x="269649" y="9181398"/>
            <a:ext cx="907715" cy="527403"/>
          </a:xfrm>
          <a:prstGeom prst="rect">
            <a:avLst/>
          </a:prstGeom>
        </p:spPr>
        <p:txBody>
          <a:bodyPr/>
          <a:lstStyle/>
          <a:p>
            <a:endParaRPr lang="en-GB" dirty="0"/>
          </a:p>
        </p:txBody>
      </p:sp>
      <p:sp>
        <p:nvSpPr>
          <p:cNvPr id="12" name="Footer Placeholder 3">
            <a:extLst>
              <a:ext uri="{FF2B5EF4-FFF2-40B4-BE49-F238E27FC236}">
                <a16:creationId xmlns:a16="http://schemas.microsoft.com/office/drawing/2014/main" id="{E7AF8C98-EFFB-8444-A615-B4920C89686E}"/>
              </a:ext>
            </a:extLst>
          </p:cNvPr>
          <p:cNvSpPr>
            <a:spLocks noGrp="1"/>
          </p:cNvSpPr>
          <p:nvPr>
            <p:ph type="ftr" sz="quarter" idx="11"/>
          </p:nvPr>
        </p:nvSpPr>
        <p:spPr>
          <a:xfrm>
            <a:off x="1318953" y="9181398"/>
            <a:ext cx="1951454" cy="527403"/>
          </a:xfrm>
        </p:spPr>
        <p:txBody>
          <a:bodyPr/>
          <a:lstStyle>
            <a:lvl1pPr algn="l">
              <a:defRPr/>
            </a:lvl1pPr>
          </a:lstStyle>
          <a:p>
            <a:r>
              <a:rPr lang="en-GB"/>
              <a:t>Name, Department</a:t>
            </a:r>
            <a:endParaRPr lang="en-GB" dirty="0"/>
          </a:p>
        </p:txBody>
      </p:sp>
      <p:sp>
        <p:nvSpPr>
          <p:cNvPr id="13" name="Text Placeholder 6">
            <a:extLst>
              <a:ext uri="{FF2B5EF4-FFF2-40B4-BE49-F238E27FC236}">
                <a16:creationId xmlns:a16="http://schemas.microsoft.com/office/drawing/2014/main" id="{D05096E2-BE7E-2745-BEDA-2FE7CA4B2C92}"/>
              </a:ext>
            </a:extLst>
          </p:cNvPr>
          <p:cNvSpPr>
            <a:spLocks noGrp="1"/>
          </p:cNvSpPr>
          <p:nvPr>
            <p:ph type="body" sz="quarter" idx="18" hasCustomPrompt="1"/>
          </p:nvPr>
        </p:nvSpPr>
        <p:spPr>
          <a:xfrm>
            <a:off x="1248442" y="9181398"/>
            <a:ext cx="6075" cy="527403"/>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35782922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269650" y="9181398"/>
            <a:ext cx="1623846" cy="527403"/>
          </a:xfrm>
          <a:prstGeom prst="rect">
            <a:avLst/>
          </a:prstGeom>
        </p:spPr>
        <p:txBody>
          <a:bodyPr vert="horz" lIns="91440" tIns="45720" rIns="91440" bIns="45720" rtlCol="0" anchor="ctr"/>
          <a:lstStyle>
            <a:lvl1pPr algn="l">
              <a:defRPr sz="945">
                <a:solidFill>
                  <a:schemeClr val="tx1">
                    <a:tint val="75000"/>
                  </a:schemeClr>
                </a:solidFill>
              </a:defRPr>
            </a:lvl1pPr>
          </a:lstStyle>
          <a:p>
            <a:fld id="{F9070619-D170-48E7-B25D-293F3BFD294D}" type="datetime4">
              <a:rPr lang="en-GB" smtClean="0"/>
              <a:t>13 March 2023</a:t>
            </a:fld>
            <a:endParaRPr lang="en-GB"/>
          </a:p>
        </p:txBody>
      </p:sp>
      <p:sp>
        <p:nvSpPr>
          <p:cNvPr id="5" name="Footer Placeholder 4"/>
          <p:cNvSpPr>
            <a:spLocks noGrp="1"/>
          </p:cNvSpPr>
          <p:nvPr>
            <p:ph type="ftr" sz="quarter" idx="3"/>
          </p:nvPr>
        </p:nvSpPr>
        <p:spPr>
          <a:xfrm>
            <a:off x="2272608" y="9181398"/>
            <a:ext cx="2314575" cy="527403"/>
          </a:xfrm>
          <a:prstGeom prst="rect">
            <a:avLst/>
          </a:prstGeom>
        </p:spPr>
        <p:txBody>
          <a:bodyPr vert="horz" lIns="91440" tIns="45720" rIns="91440" bIns="45720" rtlCol="0" anchor="ctr"/>
          <a:lstStyle>
            <a:lvl1pPr algn="ctr">
              <a:defRPr sz="945">
                <a:solidFill>
                  <a:schemeClr val="tx1">
                    <a:tint val="75000"/>
                  </a:schemeClr>
                </a:solidFill>
              </a:defRPr>
            </a:lvl1pPr>
          </a:lstStyle>
          <a:p>
            <a:r>
              <a:rPr lang="en-GB"/>
              <a:t>Name, Department</a:t>
            </a:r>
            <a:endParaRPr lang="en-GB" dirty="0"/>
          </a:p>
        </p:txBody>
      </p:sp>
      <p:sp>
        <p:nvSpPr>
          <p:cNvPr id="6" name="Slide Number Placeholder 5"/>
          <p:cNvSpPr>
            <a:spLocks noGrp="1"/>
          </p:cNvSpPr>
          <p:nvPr>
            <p:ph type="sldNum" sz="quarter" idx="4"/>
          </p:nvPr>
        </p:nvSpPr>
        <p:spPr>
          <a:xfrm>
            <a:off x="4966295" y="9181398"/>
            <a:ext cx="1635810" cy="527403"/>
          </a:xfrm>
          <a:prstGeom prst="rect">
            <a:avLst/>
          </a:prstGeom>
        </p:spPr>
        <p:txBody>
          <a:bodyPr vert="horz" lIns="91440" tIns="45720" rIns="91440" bIns="45720" rtlCol="0" anchor="ctr"/>
          <a:lstStyle>
            <a:lvl1pPr algn="r">
              <a:defRPr sz="945">
                <a:solidFill>
                  <a:schemeClr val="tx1">
                    <a:tint val="75000"/>
                  </a:schemeClr>
                </a:solidFill>
              </a:defRPr>
            </a:lvl1pPr>
          </a:lstStyle>
          <a:p>
            <a:fld id="{CBBF530E-1875-46E6-901C-76683197A1B3}" type="slidenum">
              <a:rPr lang="en-GB" smtClean="0"/>
              <a:pPr/>
              <a:t>‹#›</a:t>
            </a:fld>
            <a:endParaRPr lang="en-GB"/>
          </a:p>
        </p:txBody>
      </p:sp>
    </p:spTree>
    <p:extLst>
      <p:ext uri="{BB962C8B-B14F-4D97-AF65-F5344CB8AC3E}">
        <p14:creationId xmlns:p14="http://schemas.microsoft.com/office/powerpoint/2010/main" val="154391425"/>
      </p:ext>
    </p:extLst>
  </p:cSld>
  <p:clrMap bg1="lt1" tx1="dk1" bg2="lt2" tx2="dk2" accent1="accent1" accent2="accent2" accent3="accent3" accent4="accent4" accent5="accent5" accent6="accent6" hlink="hlink" folHlink="folHlink"/>
  <p:sldLayoutIdLst>
    <p:sldLayoutId id="2147483689" r:id="rId1"/>
  </p:sldLayoutIdLst>
  <p:hf hdr="0"/>
  <p:txStyles>
    <p:titleStyle>
      <a:lvl1pPr algn="l" defTabSz="720072" rtl="0" eaLnBrk="1" latinLnBrk="0" hangingPunct="1">
        <a:lnSpc>
          <a:spcPct val="90000"/>
        </a:lnSpc>
        <a:spcBef>
          <a:spcPct val="0"/>
        </a:spcBef>
        <a:buNone/>
        <a:defRPr sz="2520" b="1" kern="1200">
          <a:solidFill>
            <a:schemeClr val="bg1"/>
          </a:solidFill>
          <a:latin typeface="+mj-lt"/>
          <a:ea typeface="+mj-ea"/>
          <a:cs typeface="+mj-cs"/>
        </a:defRPr>
      </a:lvl1pPr>
    </p:titleStyle>
    <p:bodyStyle>
      <a:lvl1pPr marL="180018" indent="-180018" algn="l" defTabSz="720072" rtl="0" eaLnBrk="1" latinLnBrk="0" hangingPunct="1">
        <a:lnSpc>
          <a:spcPct val="90000"/>
        </a:lnSpc>
        <a:spcBef>
          <a:spcPts val="788"/>
        </a:spcBef>
        <a:buFont typeface="Wingdings" panose="05000000000000000000" pitchFamily="2" charset="2"/>
        <a:buChar char="§"/>
        <a:defRPr sz="2520" kern="1200" baseline="0">
          <a:solidFill>
            <a:schemeClr val="tx1"/>
          </a:solidFill>
          <a:latin typeface="Arial" panose="020B0604020202020204" pitchFamily="34" charset="0"/>
          <a:ea typeface="+mn-ea"/>
          <a:cs typeface="Arial" panose="020B0604020202020204" pitchFamily="34" charset="0"/>
        </a:defRPr>
      </a:lvl1pPr>
      <a:lvl2pPr marL="540054" indent="-180018" algn="l" defTabSz="720072" rtl="0" eaLnBrk="1" latinLnBrk="0" hangingPunct="1">
        <a:lnSpc>
          <a:spcPct val="90000"/>
        </a:lnSpc>
        <a:spcBef>
          <a:spcPts val="394"/>
        </a:spcBef>
        <a:buFont typeface="Wingdings" panose="05000000000000000000" pitchFamily="2" charset="2"/>
        <a:buChar char="§"/>
        <a:defRPr sz="2284" kern="1200">
          <a:solidFill>
            <a:schemeClr val="tx1"/>
          </a:solidFill>
          <a:latin typeface="Arial" panose="020B0604020202020204" pitchFamily="34" charset="0"/>
          <a:ea typeface="+mn-ea"/>
          <a:cs typeface="Arial" panose="020B0604020202020204" pitchFamily="34" charset="0"/>
        </a:defRPr>
      </a:lvl2pPr>
      <a:lvl3pPr marL="900090" indent="-180018" algn="l" defTabSz="720072" rtl="0" eaLnBrk="1" latinLnBrk="0" hangingPunct="1">
        <a:lnSpc>
          <a:spcPct val="90000"/>
        </a:lnSpc>
        <a:spcBef>
          <a:spcPts val="394"/>
        </a:spcBef>
        <a:buFont typeface="Wingdings" panose="05000000000000000000" pitchFamily="2" charset="2"/>
        <a:buChar char="§"/>
        <a:defRPr sz="2048" kern="1200">
          <a:solidFill>
            <a:schemeClr val="tx1"/>
          </a:solidFill>
          <a:latin typeface="Arial" panose="020B0604020202020204" pitchFamily="34" charset="0"/>
          <a:ea typeface="+mn-ea"/>
          <a:cs typeface="Arial" panose="020B0604020202020204" pitchFamily="34" charset="0"/>
        </a:defRPr>
      </a:lvl3pPr>
      <a:lvl4pPr marL="1080108" indent="0" algn="l" defTabSz="720072" rtl="0" eaLnBrk="1" latinLnBrk="0" hangingPunct="1">
        <a:lnSpc>
          <a:spcPct val="90000"/>
        </a:lnSpc>
        <a:spcBef>
          <a:spcPts val="394"/>
        </a:spcBef>
        <a:buFont typeface="Wingdings" panose="05000000000000000000" pitchFamily="2" charset="2"/>
        <a:buNone/>
        <a:defRPr sz="1890" kern="1200">
          <a:solidFill>
            <a:schemeClr val="tx1"/>
          </a:solidFill>
          <a:latin typeface="Arial" panose="020B0604020202020204" pitchFamily="34" charset="0"/>
          <a:ea typeface="+mn-ea"/>
          <a:cs typeface="Arial" panose="020B0604020202020204" pitchFamily="34" charset="0"/>
        </a:defRPr>
      </a:lvl4pPr>
      <a:lvl5pPr marL="1440144" indent="0" algn="l" defTabSz="720072" rtl="0" eaLnBrk="1" latinLnBrk="0" hangingPunct="1">
        <a:lnSpc>
          <a:spcPct val="90000"/>
        </a:lnSpc>
        <a:spcBef>
          <a:spcPts val="394"/>
        </a:spcBef>
        <a:buFont typeface="Arial" panose="020B0604020202020204" pitchFamily="34" charset="0"/>
        <a:buNone/>
        <a:defRPr sz="190413" kern="1200">
          <a:solidFill>
            <a:schemeClr val="tx1"/>
          </a:solidFill>
          <a:latin typeface="Arial" panose="020B0604020202020204" pitchFamily="34" charset="0"/>
          <a:ea typeface="+mn-ea"/>
          <a:cs typeface="Arial" panose="020B0604020202020204" pitchFamily="34" charset="0"/>
        </a:defRPr>
      </a:lvl5pPr>
      <a:lvl6pPr marL="1980198" indent="-180018" algn="l" defTabSz="720072"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6pPr>
      <a:lvl7pPr marL="2340234" indent="-180018" algn="l" defTabSz="720072"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7pPr>
      <a:lvl8pPr marL="2700270" indent="-180018" algn="l" defTabSz="720072"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8pPr>
      <a:lvl9pPr marL="3060306" indent="-180018" algn="l" defTabSz="720072"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9pPr>
    </p:bodyStyle>
    <p:otherStyle>
      <a:defPPr>
        <a:defRPr lang="en-US"/>
      </a:defPPr>
      <a:lvl1pPr marL="0" algn="l" defTabSz="720072" rtl="0" eaLnBrk="1" latinLnBrk="0" hangingPunct="1">
        <a:defRPr sz="1418" kern="1200">
          <a:solidFill>
            <a:schemeClr val="tx1"/>
          </a:solidFill>
          <a:latin typeface="+mn-lt"/>
          <a:ea typeface="+mn-ea"/>
          <a:cs typeface="+mn-cs"/>
        </a:defRPr>
      </a:lvl1pPr>
      <a:lvl2pPr marL="360036" algn="l" defTabSz="720072" rtl="0" eaLnBrk="1" latinLnBrk="0" hangingPunct="1">
        <a:defRPr sz="1418" kern="1200">
          <a:solidFill>
            <a:schemeClr val="tx1"/>
          </a:solidFill>
          <a:latin typeface="+mn-lt"/>
          <a:ea typeface="+mn-ea"/>
          <a:cs typeface="+mn-cs"/>
        </a:defRPr>
      </a:lvl2pPr>
      <a:lvl3pPr marL="720072" algn="l" defTabSz="720072" rtl="0" eaLnBrk="1" latinLnBrk="0" hangingPunct="1">
        <a:defRPr sz="1418" kern="1200">
          <a:solidFill>
            <a:schemeClr val="tx1"/>
          </a:solidFill>
          <a:latin typeface="+mn-lt"/>
          <a:ea typeface="+mn-ea"/>
          <a:cs typeface="+mn-cs"/>
        </a:defRPr>
      </a:lvl3pPr>
      <a:lvl4pPr marL="1080108" algn="l" defTabSz="720072" rtl="0" eaLnBrk="1" latinLnBrk="0" hangingPunct="1">
        <a:defRPr sz="1418" kern="1200">
          <a:solidFill>
            <a:schemeClr val="tx1"/>
          </a:solidFill>
          <a:latin typeface="+mn-lt"/>
          <a:ea typeface="+mn-ea"/>
          <a:cs typeface="+mn-cs"/>
        </a:defRPr>
      </a:lvl4pPr>
      <a:lvl5pPr marL="1440144" algn="l" defTabSz="720072" rtl="0" eaLnBrk="1" latinLnBrk="0" hangingPunct="1">
        <a:defRPr sz="1418" kern="1200">
          <a:solidFill>
            <a:schemeClr val="tx1"/>
          </a:solidFill>
          <a:latin typeface="+mn-lt"/>
          <a:ea typeface="+mn-ea"/>
          <a:cs typeface="+mn-cs"/>
        </a:defRPr>
      </a:lvl5pPr>
      <a:lvl6pPr marL="1800180" algn="l" defTabSz="720072" rtl="0" eaLnBrk="1" latinLnBrk="0" hangingPunct="1">
        <a:defRPr sz="1418" kern="1200">
          <a:solidFill>
            <a:schemeClr val="tx1"/>
          </a:solidFill>
          <a:latin typeface="+mn-lt"/>
          <a:ea typeface="+mn-ea"/>
          <a:cs typeface="+mn-cs"/>
        </a:defRPr>
      </a:lvl6pPr>
      <a:lvl7pPr marL="2160216" algn="l" defTabSz="720072" rtl="0" eaLnBrk="1" latinLnBrk="0" hangingPunct="1">
        <a:defRPr sz="1418" kern="1200">
          <a:solidFill>
            <a:schemeClr val="tx1"/>
          </a:solidFill>
          <a:latin typeface="+mn-lt"/>
          <a:ea typeface="+mn-ea"/>
          <a:cs typeface="+mn-cs"/>
        </a:defRPr>
      </a:lvl7pPr>
      <a:lvl8pPr marL="2520252" algn="l" defTabSz="720072" rtl="0" eaLnBrk="1" latinLnBrk="0" hangingPunct="1">
        <a:defRPr sz="1418" kern="1200">
          <a:solidFill>
            <a:schemeClr val="tx1"/>
          </a:solidFill>
          <a:latin typeface="+mn-lt"/>
          <a:ea typeface="+mn-ea"/>
          <a:cs typeface="+mn-cs"/>
        </a:defRPr>
      </a:lvl8pPr>
      <a:lvl9pPr marL="2880288" algn="l" defTabSz="720072" rtl="0" eaLnBrk="1" latinLnBrk="0" hangingPunct="1">
        <a:defRPr sz="141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BECA520-9D21-6A40-85A6-23900F219BBF}"/>
              </a:ext>
            </a:extLst>
          </p:cNvPr>
          <p:cNvSpPr>
            <a:spLocks noGrp="1"/>
          </p:cNvSpPr>
          <p:nvPr>
            <p:ph type="title"/>
          </p:nvPr>
        </p:nvSpPr>
        <p:spPr>
          <a:xfrm>
            <a:off x="955343" y="-7888"/>
            <a:ext cx="5646762" cy="1495072"/>
          </a:xfrm>
        </p:spPr>
        <p:txBody>
          <a:bodyPr>
            <a:normAutofit/>
          </a:bodyPr>
          <a:lstStyle/>
          <a:p>
            <a:r>
              <a:rPr lang="en-US" sz="2800" dirty="0"/>
              <a:t>Name of your product/application/system</a:t>
            </a:r>
          </a:p>
        </p:txBody>
      </p:sp>
      <p:sp>
        <p:nvSpPr>
          <p:cNvPr id="6" name="Footer Placeholder 5"/>
          <p:cNvSpPr>
            <a:spLocks noGrp="1"/>
          </p:cNvSpPr>
          <p:nvPr>
            <p:ph type="ftr" sz="quarter" idx="11"/>
          </p:nvPr>
        </p:nvSpPr>
        <p:spPr>
          <a:xfrm>
            <a:off x="1856096" y="21020"/>
            <a:ext cx="4930537" cy="768096"/>
          </a:xfrm>
        </p:spPr>
        <p:txBody>
          <a:bodyPr/>
          <a:lstStyle/>
          <a:p>
            <a:r>
              <a:rPr lang="en-GB" sz="1200" b="1" dirty="0">
                <a:solidFill>
                  <a:schemeClr val="tx1"/>
                </a:solidFill>
              </a:rPr>
              <a:t>Group ID: I	</a:t>
            </a:r>
          </a:p>
          <a:p>
            <a:r>
              <a:rPr lang="en-GB" sz="1200" b="1" dirty="0">
                <a:solidFill>
                  <a:schemeClr val="tx1"/>
                </a:solidFill>
              </a:rPr>
              <a:t>Group Members: [20320515 </a:t>
            </a:r>
            <a:r>
              <a:rPr lang="en-GB" sz="1200" b="1" dirty="0" err="1">
                <a:solidFill>
                  <a:schemeClr val="tx1"/>
                </a:solidFill>
              </a:rPr>
              <a:t>Guixi</a:t>
            </a:r>
            <a:r>
              <a:rPr lang="en-GB" sz="1200" b="1" dirty="0">
                <a:solidFill>
                  <a:schemeClr val="tx1"/>
                </a:solidFill>
              </a:rPr>
              <a:t> HU] [20320562 </a:t>
            </a:r>
            <a:r>
              <a:rPr lang="en-GB" altLang="zh-CN" sz="1200" b="1" dirty="0" err="1">
                <a:solidFill>
                  <a:schemeClr val="tx1"/>
                </a:solidFill>
              </a:rPr>
              <a:t>Zhenyu</a:t>
            </a:r>
            <a:r>
              <a:rPr lang="en-GB" altLang="zh-CN" sz="1200" b="1" dirty="0">
                <a:solidFill>
                  <a:schemeClr val="tx1"/>
                </a:solidFill>
              </a:rPr>
              <a:t> LUO</a:t>
            </a:r>
            <a:r>
              <a:rPr lang="en-GB" sz="1200" b="1" dirty="0">
                <a:solidFill>
                  <a:schemeClr val="tx1"/>
                </a:solidFill>
              </a:rPr>
              <a:t>]                         [</a:t>
            </a:r>
            <a:r>
              <a:rPr lang="en-US" altLang="zh-CN" sz="1200" b="1" dirty="0">
                <a:solidFill>
                  <a:schemeClr val="tx1"/>
                </a:solidFill>
              </a:rPr>
              <a:t>20320575 Wei DU] [20323728 Li HUANG]</a:t>
            </a:r>
            <a:r>
              <a:rPr lang="en-GB" sz="1200" b="1" dirty="0">
                <a:solidFill>
                  <a:schemeClr val="tx1"/>
                </a:solidFill>
              </a:rPr>
              <a:t>	</a:t>
            </a:r>
          </a:p>
          <a:p>
            <a:r>
              <a:rPr lang="en-GB" sz="1200" b="1" dirty="0">
                <a:solidFill>
                  <a:schemeClr val="tx1"/>
                </a:solidFill>
              </a:rPr>
              <a:t>Module: Coursework 3 </a:t>
            </a:r>
            <a:r>
              <a:rPr lang="en-US" sz="1200" b="1" dirty="0">
                <a:solidFill>
                  <a:schemeClr val="tx1"/>
                </a:solidFill>
              </a:rPr>
              <a:t>EEEE2068 CET B (Autumn 2022-23)</a:t>
            </a:r>
            <a:endParaRPr lang="en-GB" sz="1200" b="1" dirty="0">
              <a:solidFill>
                <a:schemeClr val="tx1"/>
              </a:solidFill>
            </a:endParaRPr>
          </a:p>
        </p:txBody>
      </p:sp>
      <p:pic>
        <p:nvPicPr>
          <p:cNvPr id="13" name="Picture 12">
            <a:extLst>
              <a:ext uri="{FF2B5EF4-FFF2-40B4-BE49-F238E27FC236}">
                <a16:creationId xmlns:a16="http://schemas.microsoft.com/office/drawing/2014/main" id="{E305FC81-CA2C-4184-9237-0177434AEB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080"/>
            <a:ext cx="1752600" cy="647700"/>
          </a:xfrm>
          <a:prstGeom prst="rect">
            <a:avLst/>
          </a:prstGeom>
        </p:spPr>
      </p:pic>
      <p:sp>
        <p:nvSpPr>
          <p:cNvPr id="14" name="TextBox 13">
            <a:extLst>
              <a:ext uri="{FF2B5EF4-FFF2-40B4-BE49-F238E27FC236}">
                <a16:creationId xmlns:a16="http://schemas.microsoft.com/office/drawing/2014/main" id="{F7C0C24E-601D-40E6-9507-E3C0A783E085}"/>
              </a:ext>
            </a:extLst>
          </p:cNvPr>
          <p:cNvSpPr txBox="1"/>
          <p:nvPr/>
        </p:nvSpPr>
        <p:spPr>
          <a:xfrm>
            <a:off x="0" y="781455"/>
            <a:ext cx="6858000" cy="707886"/>
          </a:xfrm>
          <a:prstGeom prst="rect">
            <a:avLst/>
          </a:prstGeom>
          <a:solidFill>
            <a:srgbClr val="002060"/>
          </a:solidFill>
          <a:ln w="12700">
            <a:solidFill>
              <a:schemeClr val="accent4"/>
            </a:solidFill>
          </a:ln>
        </p:spPr>
        <p:txBody>
          <a:bodyPr wrap="square" rtlCol="0">
            <a:spAutoFit/>
          </a:bodyPr>
          <a:lstStyle/>
          <a:p>
            <a:pPr algn="ctr"/>
            <a:r>
              <a:rPr lang="en-US" sz="2000" b="1" dirty="0">
                <a:solidFill>
                  <a:schemeClr val="bg1"/>
                </a:solidFill>
              </a:rPr>
              <a:t>Hearing assistant </a:t>
            </a:r>
            <a:r>
              <a:rPr lang="en-US" altLang="zh-CN" sz="2000" b="1" dirty="0">
                <a:solidFill>
                  <a:schemeClr val="bg1"/>
                </a:solidFill>
              </a:rPr>
              <a:t>system based on deep neural network and </a:t>
            </a:r>
            <a:r>
              <a:rPr lang="en-US" sz="2000" b="1" dirty="0">
                <a:solidFill>
                  <a:schemeClr val="bg1"/>
                </a:solidFill>
              </a:rPr>
              <a:t>wearable surround sound speaker</a:t>
            </a:r>
          </a:p>
        </p:txBody>
      </p:sp>
      <p:sp>
        <p:nvSpPr>
          <p:cNvPr id="15" name="Rectangle: Rounded Corners 14">
            <a:extLst>
              <a:ext uri="{FF2B5EF4-FFF2-40B4-BE49-F238E27FC236}">
                <a16:creationId xmlns:a16="http://schemas.microsoft.com/office/drawing/2014/main" id="{F520BA2D-6A8D-465A-8E02-2A8F448FECFB}"/>
              </a:ext>
            </a:extLst>
          </p:cNvPr>
          <p:cNvSpPr/>
          <p:nvPr/>
        </p:nvSpPr>
        <p:spPr>
          <a:xfrm>
            <a:off x="203649" y="1556462"/>
            <a:ext cx="3148284" cy="2306768"/>
          </a:xfrm>
          <a:prstGeom prst="roundRect">
            <a:avLst>
              <a:gd name="adj" fmla="val 5626"/>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rPr>
              <a:t>Introduction </a:t>
            </a:r>
            <a:endParaRPr lang="en-GB" sz="1600" b="1" dirty="0">
              <a:solidFill>
                <a:schemeClr val="tx1"/>
              </a:solidFill>
            </a:endParaRPr>
          </a:p>
        </p:txBody>
      </p:sp>
      <p:sp>
        <p:nvSpPr>
          <p:cNvPr id="16" name="Rectangle: Rounded Corners 15">
            <a:extLst>
              <a:ext uri="{FF2B5EF4-FFF2-40B4-BE49-F238E27FC236}">
                <a16:creationId xmlns:a16="http://schemas.microsoft.com/office/drawing/2014/main" id="{DF20F045-D9C1-4263-A8D6-580A00893D62}"/>
              </a:ext>
            </a:extLst>
          </p:cNvPr>
          <p:cNvSpPr/>
          <p:nvPr/>
        </p:nvSpPr>
        <p:spPr>
          <a:xfrm>
            <a:off x="3506068" y="1554856"/>
            <a:ext cx="3073405" cy="2306768"/>
          </a:xfrm>
          <a:prstGeom prst="roundRect">
            <a:avLst>
              <a:gd name="adj" fmla="val 5626"/>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rPr>
              <a:t>Model and Structure</a:t>
            </a:r>
            <a:endParaRPr lang="en-GB" sz="1600" b="1" dirty="0">
              <a:solidFill>
                <a:schemeClr val="tx1"/>
              </a:solidFill>
            </a:endParaRPr>
          </a:p>
        </p:txBody>
      </p:sp>
      <p:sp>
        <p:nvSpPr>
          <p:cNvPr id="17" name="Rectangle: Rounded Corners 16">
            <a:extLst>
              <a:ext uri="{FF2B5EF4-FFF2-40B4-BE49-F238E27FC236}">
                <a16:creationId xmlns:a16="http://schemas.microsoft.com/office/drawing/2014/main" id="{F3DB4B23-667F-4349-8999-BC606E8B1AEE}"/>
              </a:ext>
            </a:extLst>
          </p:cNvPr>
          <p:cNvSpPr/>
          <p:nvPr/>
        </p:nvSpPr>
        <p:spPr>
          <a:xfrm>
            <a:off x="203650" y="3941629"/>
            <a:ext cx="6384089" cy="3599516"/>
          </a:xfrm>
          <a:prstGeom prst="roundRect">
            <a:avLst>
              <a:gd name="adj" fmla="val 5626"/>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rPr>
              <a:t>Problems and Solutions </a:t>
            </a:r>
            <a:endParaRPr lang="en-GB" sz="1600" b="1" dirty="0">
              <a:solidFill>
                <a:schemeClr val="tx1"/>
              </a:solidFill>
            </a:endParaRPr>
          </a:p>
        </p:txBody>
      </p:sp>
      <p:sp>
        <p:nvSpPr>
          <p:cNvPr id="18" name="Rectangle: Rounded Corners 17">
            <a:extLst>
              <a:ext uri="{FF2B5EF4-FFF2-40B4-BE49-F238E27FC236}">
                <a16:creationId xmlns:a16="http://schemas.microsoft.com/office/drawing/2014/main" id="{76C7F0AE-425C-41A0-A1C6-7D07AEC5361A}"/>
              </a:ext>
            </a:extLst>
          </p:cNvPr>
          <p:cNvSpPr/>
          <p:nvPr/>
        </p:nvSpPr>
        <p:spPr>
          <a:xfrm>
            <a:off x="195384" y="7608266"/>
            <a:ext cx="6392355" cy="1056657"/>
          </a:xfrm>
          <a:prstGeom prst="roundRect">
            <a:avLst>
              <a:gd name="adj" fmla="val 5626"/>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rPr>
              <a:t>Originality, Novelty, Innovativeness</a:t>
            </a:r>
            <a:endParaRPr lang="en-GB" sz="1600" b="1" dirty="0">
              <a:solidFill>
                <a:schemeClr val="tx1"/>
              </a:solidFill>
            </a:endParaRPr>
          </a:p>
        </p:txBody>
      </p:sp>
      <p:sp>
        <p:nvSpPr>
          <p:cNvPr id="19" name="Rectangle: Rounded Corners 18">
            <a:extLst>
              <a:ext uri="{FF2B5EF4-FFF2-40B4-BE49-F238E27FC236}">
                <a16:creationId xmlns:a16="http://schemas.microsoft.com/office/drawing/2014/main" id="{74C0EE25-FABE-4D23-87CE-9C481FF3E764}"/>
              </a:ext>
            </a:extLst>
          </p:cNvPr>
          <p:cNvSpPr/>
          <p:nvPr/>
        </p:nvSpPr>
        <p:spPr>
          <a:xfrm>
            <a:off x="203650" y="8739515"/>
            <a:ext cx="6398456" cy="1130961"/>
          </a:xfrm>
          <a:prstGeom prst="roundRect">
            <a:avLst>
              <a:gd name="adj" fmla="val 5626"/>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chemeClr val="tx1"/>
                </a:solidFill>
              </a:rPr>
              <a:t>References </a:t>
            </a:r>
          </a:p>
          <a:p>
            <a:pPr algn="just"/>
            <a:r>
              <a:rPr lang="en-US" sz="1100" dirty="0">
                <a:solidFill>
                  <a:schemeClr val="tx1"/>
                </a:solidFill>
              </a:rPr>
              <a:t>[1]  World Health Organization, “Deafness and hearing loss”, 1 April 2021, https://www.who.int/news-room/fact-sheets/detail/deafness-and-hearing-loss</a:t>
            </a:r>
          </a:p>
          <a:p>
            <a:pPr algn="just"/>
            <a:r>
              <a:rPr lang="en-US" sz="1100" dirty="0">
                <a:solidFill>
                  <a:schemeClr val="tx1"/>
                </a:solidFill>
              </a:rPr>
              <a:t>[2] M. Gupta, R. K. Singh, and S. Singh, "G-Cocktail: An Algorithm to Address Cocktail Party Problem of Gujarati Language Using Cat Boost," Wireless Personal Communications, vol. 125, no. 1, pp. 261-280, 2022/07/01 2022, </a:t>
            </a:r>
            <a:r>
              <a:rPr lang="en-US" sz="1100" dirty="0" err="1">
                <a:solidFill>
                  <a:schemeClr val="tx1"/>
                </a:solidFill>
              </a:rPr>
              <a:t>doi</a:t>
            </a:r>
            <a:r>
              <a:rPr lang="en-US" sz="1100" dirty="0">
                <a:solidFill>
                  <a:schemeClr val="tx1"/>
                </a:solidFill>
              </a:rPr>
              <a:t>: 10.1007/s11277-022-09549-6.</a:t>
            </a:r>
            <a:endParaRPr lang="en-GB" sz="1100" dirty="0">
              <a:solidFill>
                <a:schemeClr val="tx1"/>
              </a:solidFill>
            </a:endParaRPr>
          </a:p>
        </p:txBody>
      </p:sp>
      <p:sp>
        <p:nvSpPr>
          <p:cNvPr id="21" name="TextBox 20">
            <a:extLst>
              <a:ext uri="{FF2B5EF4-FFF2-40B4-BE49-F238E27FC236}">
                <a16:creationId xmlns:a16="http://schemas.microsoft.com/office/drawing/2014/main" id="{22D3B8FB-A16A-4434-B281-AE807E44F5A0}"/>
              </a:ext>
            </a:extLst>
          </p:cNvPr>
          <p:cNvSpPr txBox="1"/>
          <p:nvPr/>
        </p:nvSpPr>
        <p:spPr>
          <a:xfrm>
            <a:off x="203650" y="1920127"/>
            <a:ext cx="3183780" cy="1954381"/>
          </a:xfrm>
          <a:prstGeom prst="rect">
            <a:avLst/>
          </a:prstGeom>
          <a:noFill/>
        </p:spPr>
        <p:txBody>
          <a:bodyPr wrap="square" rtlCol="0">
            <a:spAutoFit/>
          </a:bodyPr>
          <a:lstStyle/>
          <a:p>
            <a:pPr algn="just"/>
            <a:r>
              <a:rPr lang="en-US" altLang="zh-CN" sz="1100" dirty="0"/>
              <a:t>466 million people, over 5% of the world population, suffer hearing loss in 2021 and over 700 million hearing-impaired are estimated by 2050[1]. This group cannot enjoy most daily experiences due to different degrees of hearing impairment. As one of the most popular entertainment, video games are attractive to people with hearing loss. To help the hearing-impaired immerse themselves in the vertical world, a hearing assistance system and a wearable speaker are proposed.</a:t>
            </a:r>
            <a:endParaRPr lang="en-GB" sz="1100" dirty="0"/>
          </a:p>
        </p:txBody>
      </p:sp>
      <p:sp>
        <p:nvSpPr>
          <p:cNvPr id="23" name="TextBox 22">
            <a:extLst>
              <a:ext uri="{FF2B5EF4-FFF2-40B4-BE49-F238E27FC236}">
                <a16:creationId xmlns:a16="http://schemas.microsoft.com/office/drawing/2014/main" id="{A396E379-738A-47F8-81BC-F45BD990B098}"/>
              </a:ext>
            </a:extLst>
          </p:cNvPr>
          <p:cNvSpPr txBox="1"/>
          <p:nvPr/>
        </p:nvSpPr>
        <p:spPr>
          <a:xfrm>
            <a:off x="195384" y="4273333"/>
            <a:ext cx="6384089" cy="3308598"/>
          </a:xfrm>
          <a:prstGeom prst="rect">
            <a:avLst/>
          </a:prstGeom>
          <a:noFill/>
        </p:spPr>
        <p:txBody>
          <a:bodyPr wrap="square" rtlCol="0">
            <a:spAutoFit/>
          </a:bodyPr>
          <a:lstStyle/>
          <a:p>
            <a:pPr algn="just"/>
            <a:r>
              <a:rPr lang="en-US" sz="1100" dirty="0"/>
              <a:t>People with partial hearing disabilities face a fusion of various sound sources in a noisy environment, so the group fails to separate mixed sound stimuli into single streams and forces one auditory source of interest related to the cocktail party effect[2]. In addition, people with hearing impairment cannot determine the direction of sounds and feel indisposed after long-term wearing hearing aids.</a:t>
            </a:r>
          </a:p>
          <a:p>
            <a:pPr algn="just"/>
            <a:r>
              <a:rPr lang="en-US" sz="1100" dirty="0"/>
              <a:t>Therefore, a hearing assistant based on the deep neural network (DNN) is designed to deal with these issues for people with partial hearing disabilities. In terms of software, The DNN system consists of a deep autoencoder, a feature extraction network and a classification modulation. There is a description of the work process. All sound sources are collected and filtered for reliable data, then the pitch is calculated and encoded by the deep autoencoder. The next step is that the label data experiences a Mel-frequency transform, widely applied in speech recognition, for reasonable auditory feature representations in the feature extraction network. Finally, the classification modulation realizes the multiple classifications, which can segregate the sound resources and display the feature coefficient on the interface with adjustable buttons. With the assistance of the proposed system, people can hear background music or dialogue to present from an intelligent combination of different sound stimuli. As for the hardware, the wearable surround sound speaker has six speakers and three vibration motors surrounding the arc structure. when users wear this device on the neck and activate it, the speakers and motors play and vibrate at corresponding positions which are related to the direction of sounds in the video game. </a:t>
            </a:r>
          </a:p>
        </p:txBody>
      </p:sp>
      <p:sp>
        <p:nvSpPr>
          <p:cNvPr id="24" name="TextBox 23">
            <a:extLst>
              <a:ext uri="{FF2B5EF4-FFF2-40B4-BE49-F238E27FC236}">
                <a16:creationId xmlns:a16="http://schemas.microsoft.com/office/drawing/2014/main" id="{AB79B67B-668D-4683-84EC-922B97148198}"/>
              </a:ext>
            </a:extLst>
          </p:cNvPr>
          <p:cNvSpPr txBox="1"/>
          <p:nvPr/>
        </p:nvSpPr>
        <p:spPr>
          <a:xfrm>
            <a:off x="195385" y="7931553"/>
            <a:ext cx="6327418" cy="769441"/>
          </a:xfrm>
          <a:prstGeom prst="rect">
            <a:avLst/>
          </a:prstGeom>
          <a:noFill/>
        </p:spPr>
        <p:txBody>
          <a:bodyPr wrap="square" rtlCol="0">
            <a:spAutoFit/>
          </a:bodyPr>
          <a:lstStyle/>
          <a:p>
            <a:pPr algn="just"/>
            <a:r>
              <a:rPr lang="en-US" sz="1100" dirty="0"/>
              <a:t>Surround sound and vibration is capable of instructing the hearing-impaired to determine the direction of the source directly, which is more friendly than the conventional auditory guide that plays with background music or dialogue. The assistance system based on DNN imitates the transmission of attention signals to realize the selective attention of the cocktail party effect.</a:t>
            </a:r>
            <a:endParaRPr lang="en-GB" sz="1100" dirty="0"/>
          </a:p>
        </p:txBody>
      </p:sp>
      <p:pic>
        <p:nvPicPr>
          <p:cNvPr id="3" name="Picture 2" descr="Diagram&#10;&#10;Description automatically generated with low confidence">
            <a:extLst>
              <a:ext uri="{FF2B5EF4-FFF2-40B4-BE49-F238E27FC236}">
                <a16:creationId xmlns:a16="http://schemas.microsoft.com/office/drawing/2014/main" id="{F12D3304-1F09-42F7-17B4-D6AEB0F5240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55365" y="2178731"/>
            <a:ext cx="1395411" cy="1196516"/>
          </a:xfrm>
          <a:prstGeom prst="rect">
            <a:avLst/>
          </a:prstGeom>
        </p:spPr>
      </p:pic>
      <p:pic>
        <p:nvPicPr>
          <p:cNvPr id="5" name="Picture 4">
            <a:extLst>
              <a:ext uri="{FF2B5EF4-FFF2-40B4-BE49-F238E27FC236}">
                <a16:creationId xmlns:a16="http://schemas.microsoft.com/office/drawing/2014/main" id="{AC568713-8FD3-BF8D-F6BE-B49FB428D738}"/>
              </a:ext>
            </a:extLst>
          </p:cNvPr>
          <p:cNvPicPr>
            <a:picLocks noChangeAspect="1"/>
          </p:cNvPicPr>
          <p:nvPr/>
        </p:nvPicPr>
        <p:blipFill>
          <a:blip r:embed="rId5"/>
          <a:stretch>
            <a:fillRect/>
          </a:stretch>
        </p:blipFill>
        <p:spPr>
          <a:xfrm>
            <a:off x="3541565" y="1951269"/>
            <a:ext cx="1613800" cy="1653306"/>
          </a:xfrm>
          <a:prstGeom prst="rect">
            <a:avLst/>
          </a:prstGeom>
        </p:spPr>
      </p:pic>
      <p:sp>
        <p:nvSpPr>
          <p:cNvPr id="2" name="TextBox 1">
            <a:extLst>
              <a:ext uri="{FF2B5EF4-FFF2-40B4-BE49-F238E27FC236}">
                <a16:creationId xmlns:a16="http://schemas.microsoft.com/office/drawing/2014/main" id="{861A471A-B79A-EEA6-2C01-9EB954B06CE3}"/>
              </a:ext>
            </a:extLst>
          </p:cNvPr>
          <p:cNvSpPr txBox="1"/>
          <p:nvPr/>
        </p:nvSpPr>
        <p:spPr>
          <a:xfrm>
            <a:off x="3474700" y="3394507"/>
            <a:ext cx="3188693" cy="430887"/>
          </a:xfrm>
          <a:prstGeom prst="rect">
            <a:avLst/>
          </a:prstGeom>
          <a:noFill/>
        </p:spPr>
        <p:txBody>
          <a:bodyPr wrap="none" rtlCol="0">
            <a:spAutoFit/>
          </a:bodyPr>
          <a:lstStyle/>
          <a:p>
            <a:r>
              <a:rPr lang="en-US" altLang="zh-CN" sz="1100" dirty="0"/>
              <a:t>Figure 1. Model of the deep neural network (left)</a:t>
            </a:r>
          </a:p>
          <a:p>
            <a:r>
              <a:rPr lang="en-US" altLang="zh-CN" sz="1100" dirty="0"/>
              <a:t>and   structure of the wearable speaker (right)</a:t>
            </a:r>
            <a:endParaRPr lang="zh-CN" altLang="en-US" sz="1100" dirty="0"/>
          </a:p>
        </p:txBody>
      </p:sp>
    </p:spTree>
    <p:extLst>
      <p:ext uri="{BB962C8B-B14F-4D97-AF65-F5344CB8AC3E}">
        <p14:creationId xmlns:p14="http://schemas.microsoft.com/office/powerpoint/2010/main" val="1607443899"/>
      </p:ext>
    </p:extLst>
  </p:cSld>
  <p:clrMapOvr>
    <a:masterClrMapping/>
  </p:clrMapOvr>
</p:sld>
</file>

<file path=ppt/theme/theme1.xml><?xml version="1.0" encoding="utf-8"?>
<a:theme xmlns:a="http://schemas.openxmlformats.org/drawingml/2006/main" name="Office Theme">
  <a:themeElements>
    <a:clrScheme name="University of Nottingham">
      <a:dk1>
        <a:srgbClr val="000000"/>
      </a:dk1>
      <a:lt1>
        <a:srgbClr val="FFFFFF"/>
      </a:lt1>
      <a:dk2>
        <a:srgbClr val="4A4A49"/>
      </a:dk2>
      <a:lt2>
        <a:srgbClr val="92928E"/>
      </a:lt2>
      <a:accent1>
        <a:srgbClr val="009BBD"/>
      </a:accent1>
      <a:accent2>
        <a:srgbClr val="007DA8"/>
      </a:accent2>
      <a:accent3>
        <a:srgbClr val="005697"/>
      </a:accent3>
      <a:accent4>
        <a:srgbClr val="1B2A6B"/>
      </a:accent4>
      <a:accent5>
        <a:srgbClr val="191A4F"/>
      </a:accent5>
      <a:accent6>
        <a:srgbClr val="E52F6D"/>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49a05fd-d39d-4a5a-b771-6ca3ca5b3e3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文档" ma:contentTypeID="0x0101006DE6CE8612518F4087F8CF0D8CF8F2E4" ma:contentTypeVersion="14" ma:contentTypeDescription="新建文档。" ma:contentTypeScope="" ma:versionID="07401d60b8fa58204358ba15b5d31aa5">
  <xsd:schema xmlns:xsd="http://www.w3.org/2001/XMLSchema" xmlns:xs="http://www.w3.org/2001/XMLSchema" xmlns:p="http://schemas.microsoft.com/office/2006/metadata/properties" xmlns:ns3="549a05fd-d39d-4a5a-b771-6ca3ca5b3e38" xmlns:ns4="f43debb3-3594-4101-ba56-184b98d9b6c9" targetNamespace="http://schemas.microsoft.com/office/2006/metadata/properties" ma:root="true" ma:fieldsID="c8a16a1191f913a8908409ad1a90bb75" ns3:_="" ns4:_="">
    <xsd:import namespace="549a05fd-d39d-4a5a-b771-6ca3ca5b3e38"/>
    <xsd:import namespace="f43debb3-3594-4101-ba56-184b98d9b6c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9a05fd-d39d-4a5a-b771-6ca3ca5b3e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3debb3-3594-4101-ba56-184b98d9b6c9" elementFormDefault="qualified">
    <xsd:import namespace="http://schemas.microsoft.com/office/2006/documentManagement/types"/>
    <xsd:import namespace="http://schemas.microsoft.com/office/infopath/2007/PartnerControls"/>
    <xsd:element name="SharedWithUsers" ma:index="18" nillable="true" ma:displayName="共享对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享对象详细信息" ma:internalName="SharedWithDetails" ma:readOnly="true">
      <xsd:simpleType>
        <xsd:restriction base="dms:Note">
          <xsd:maxLength value="255"/>
        </xsd:restriction>
      </xsd:simpleType>
    </xsd:element>
    <xsd:element name="SharingHintHash" ma:index="20" nillable="true" ma:displayName="共享提示哈希"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2B19F1-7180-49D0-A3F7-A5B98EF2F879}">
  <ds:schemaRefs>
    <ds:schemaRef ds:uri="http://schemas.microsoft.com/sharepoint/v3/contenttype/forms"/>
  </ds:schemaRefs>
</ds:datastoreItem>
</file>

<file path=customXml/itemProps2.xml><?xml version="1.0" encoding="utf-8"?>
<ds:datastoreItem xmlns:ds="http://schemas.openxmlformats.org/officeDocument/2006/customXml" ds:itemID="{0DC6309B-1C52-4FD6-94A2-0113722346F5}">
  <ds:schemaRefs>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http://purl.org/dc/terms/"/>
    <ds:schemaRef ds:uri="http://schemas.microsoft.com/office/2006/metadata/properties"/>
    <ds:schemaRef ds:uri="http://purl.org/dc/dcmitype/"/>
    <ds:schemaRef ds:uri="f43debb3-3594-4101-ba56-184b98d9b6c9"/>
    <ds:schemaRef ds:uri="549a05fd-d39d-4a5a-b771-6ca3ca5b3e38"/>
    <ds:schemaRef ds:uri="http://www.w3.org/XML/1998/namespace"/>
  </ds:schemaRefs>
</ds:datastoreItem>
</file>

<file path=customXml/itemProps3.xml><?xml version="1.0" encoding="utf-8"?>
<ds:datastoreItem xmlns:ds="http://schemas.openxmlformats.org/officeDocument/2006/customXml" ds:itemID="{1001D22B-B937-4A60-ADF4-A4FB463261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9a05fd-d39d-4a5a-b771-6ca3ca5b3e38"/>
    <ds:schemaRef ds:uri="f43debb3-3594-4101-ba56-184b98d9b6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3208</TotalTime>
  <Words>629</Words>
  <Application>Microsoft Office PowerPoint</Application>
  <PresentationFormat>A4 Paper (210x297 mm)</PresentationFormat>
  <Paragraphs>22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黑体</vt:lpstr>
      <vt:lpstr>Arial</vt:lpstr>
      <vt:lpstr>Wingdings</vt:lpstr>
      <vt:lpstr>Office Theme</vt:lpstr>
      <vt:lpstr>Name of your product/application/system</vt:lpstr>
    </vt:vector>
  </TitlesOfParts>
  <Company>University of Nottingham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Teri Browett</dc:creator>
  <cp:lastModifiedBy>David Chieng</cp:lastModifiedBy>
  <cp:revision>147</cp:revision>
  <cp:lastPrinted>2019-11-06T14:12:58Z</cp:lastPrinted>
  <dcterms:created xsi:type="dcterms:W3CDTF">2019-02-06T16:40:25Z</dcterms:created>
  <dcterms:modified xsi:type="dcterms:W3CDTF">2023-03-13T10:02:09Z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0x0101006DE6CE8612518F4087F8CF0D8CF8F2E4</vt:lpwstr>
  </property>
  <property fmtid="{D5CDD505-2E9C-101B-9397-08002B2CF9AE}" pid="3" name="Order">
    <vt:r8>4688300</vt:r8>
  </property>
  <property fmtid="{D5CDD505-2E9C-101B-9397-08002B2CF9AE}" pid="4" name="ComplianceAssetId">
    <vt:lpwstr/>
  </property>
</Properties>
</file>