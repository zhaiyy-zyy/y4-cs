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4"/>
  </p:notesMasterIdLst>
  <p:handoutMasterIdLst>
    <p:handoutMasterId r:id="rId22"/>
  </p:handoutMasterIdLst>
  <p:sldIdLst>
    <p:sldId id="454" r:id="rId3"/>
    <p:sldId id="456" r:id="rId5"/>
    <p:sldId id="639" r:id="rId6"/>
    <p:sldId id="590" r:id="rId7"/>
    <p:sldId id="597" r:id="rId8"/>
    <p:sldId id="598" r:id="rId9"/>
    <p:sldId id="604" r:id="rId10"/>
    <p:sldId id="640" r:id="rId11"/>
    <p:sldId id="641" r:id="rId12"/>
    <p:sldId id="659" r:id="rId13"/>
    <p:sldId id="605" r:id="rId14"/>
    <p:sldId id="634" r:id="rId15"/>
    <p:sldId id="643" r:id="rId16"/>
    <p:sldId id="642" r:id="rId17"/>
    <p:sldId id="635" r:id="rId18"/>
    <p:sldId id="636" r:id="rId19"/>
    <p:sldId id="644" r:id="rId20"/>
    <p:sldId id="608" r:id="rId21"/>
  </p:sldIdLst>
  <p:sldSz cx="9144000" cy="6858000" type="screen4x3"/>
  <p:notesSz cx="6797675" cy="98742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Arial" panose="020B0604020202090204" pitchFamily="34" charset="0"/>
        <a:ea typeface="標楷體" panose="02010601000101010101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gray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90000"/>
    <a:srgbClr val="FF9900"/>
    <a:srgbClr val="FFFF00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2" autoAdjust="0"/>
    <p:restoredTop sz="91850" autoAdjust="0"/>
  </p:normalViewPr>
  <p:slideViewPr>
    <p:cSldViewPr showGuides="1">
      <p:cViewPr varScale="1">
        <p:scale>
          <a:sx n="88" d="100"/>
          <a:sy n="88" d="100"/>
        </p:scale>
        <p:origin x="1134" y="63"/>
      </p:cViewPr>
      <p:guideLst>
        <p:guide orient="horz" pos="2160"/>
        <p:guide pos="28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69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t" anchorCtr="0" compatLnSpc="1"/>
          <a:lstStyle>
            <a:lvl1pPr defTabSz="910590" eaLnBrk="1" hangingPunct="1">
              <a:defRPr sz="1300">
                <a:latin typeface="Times New Roman" panose="0202050305040509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7987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t" anchorCtr="0" compatLnSpc="1"/>
          <a:lstStyle>
            <a:lvl1pPr algn="r" defTabSz="910590" eaLnBrk="1" hangingPunct="1">
              <a:defRPr sz="1300">
                <a:latin typeface="Times New Roman" panose="0202050305040509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80538"/>
            <a:ext cx="2947988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b" anchorCtr="0" compatLnSpc="1"/>
          <a:lstStyle>
            <a:lvl1pPr defTabSz="910590" eaLnBrk="1" hangingPunct="1">
              <a:defRPr sz="1300">
                <a:latin typeface="Times New Roman" panose="02020503050405090304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80538"/>
            <a:ext cx="2947987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b" anchorCtr="0" compatLnSpc="1"/>
          <a:lstStyle>
            <a:lvl1pPr algn="r" defTabSz="909955" eaLnBrk="1" hangingPunct="1">
              <a:defRPr sz="1300">
                <a:latin typeface="Times New Roman" panose="02020503050405090304" pitchFamily="18" charset="0"/>
                <a:ea typeface="PMingLiU" pitchFamily="18" charset="-120"/>
              </a:defRPr>
            </a:lvl1pPr>
          </a:lstStyle>
          <a:p>
            <a:pPr>
              <a:defRPr/>
            </a:pPr>
            <a:fld id="{323F30EB-D372-47D3-97CE-C64850C198AE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798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t" anchorCtr="0" compatLnSpc="1"/>
          <a:lstStyle>
            <a:lvl1pPr defTabSz="910590" eaLnBrk="1" hangingPunct="1">
              <a:defRPr sz="13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7987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t" anchorCtr="0" compatLnSpc="1"/>
          <a:lstStyle>
            <a:lvl1pPr algn="r" defTabSz="910590" eaLnBrk="1" hangingPunct="1">
              <a:defRPr sz="13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3450" y="741363"/>
            <a:ext cx="4933950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8050" y="4689475"/>
            <a:ext cx="4981575" cy="44434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t" anchorCtr="0" compatLnSpc="1"/>
          <a:lstStyle/>
          <a:p>
            <a:pPr lvl="0"/>
            <a:r>
              <a:rPr lang="en-US" altLang="zh-TW" noProof="0"/>
              <a:t>Click to edit Master text styles</a:t>
            </a:r>
            <a:endParaRPr lang="en-US" altLang="zh-TW" noProof="0"/>
          </a:p>
          <a:p>
            <a:pPr lvl="1"/>
            <a:r>
              <a:rPr lang="en-US" altLang="zh-TW" noProof="0"/>
              <a:t>Second level</a:t>
            </a:r>
            <a:endParaRPr lang="en-US" altLang="zh-TW" noProof="0"/>
          </a:p>
          <a:p>
            <a:pPr lvl="2"/>
            <a:r>
              <a:rPr lang="en-US" altLang="zh-TW" noProof="0"/>
              <a:t>Third level</a:t>
            </a:r>
            <a:endParaRPr lang="en-US" altLang="zh-TW" noProof="0"/>
          </a:p>
          <a:p>
            <a:pPr lvl="3"/>
            <a:r>
              <a:rPr lang="en-US" altLang="zh-TW" noProof="0"/>
              <a:t>Fourth level</a:t>
            </a:r>
            <a:endParaRPr lang="en-US" altLang="zh-TW" noProof="0"/>
          </a:p>
          <a:p>
            <a:pPr lvl="4"/>
            <a:r>
              <a:rPr lang="en-US" altLang="zh-TW" noProof="0"/>
              <a:t>Fifth level</a:t>
            </a:r>
            <a:endParaRPr lang="en-US" altLang="zh-TW" noProof="0"/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80538"/>
            <a:ext cx="2947988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b" anchorCtr="0" compatLnSpc="1"/>
          <a:lstStyle>
            <a:lvl1pPr defTabSz="910590" eaLnBrk="1" hangingPunct="1">
              <a:defRPr sz="13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80538"/>
            <a:ext cx="2947987" cy="4937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025" tIns="45511" rIns="91025" bIns="45511" numCol="1" anchor="b" anchorCtr="0" compatLnSpc="1"/>
          <a:lstStyle>
            <a:lvl1pPr algn="r" defTabSz="909955" eaLnBrk="1" hangingPunct="1">
              <a:defRPr sz="1300">
                <a:latin typeface="Arial" panose="020B060402020209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50305040509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投影片圖像版面配置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0179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50180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1pPr>
            <a:lvl2pPr marL="742950" indent="-28575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2pPr>
            <a:lvl3pPr marL="11430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3pPr>
            <a:lvl4pPr marL="16002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4pPr>
            <a:lvl5pPr marL="20574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5pPr>
            <a:lvl6pPr marL="25146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6pPr>
            <a:lvl7pPr marL="29718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7pPr>
            <a:lvl8pPr marL="34290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8pPr>
            <a:lvl9pPr marL="38862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9pPr>
          </a:lstStyle>
          <a:p>
            <a:fld id="{19F8EF67-40F2-4D7D-8523-22F5CE34D99B}" type="slidenum">
              <a:rPr lang="zh-TW" altLang="en-US" sz="1300" smtClean="0">
                <a:ea typeface="PMingLiU" pitchFamily="18" charset="-120"/>
              </a:rPr>
            </a:fld>
            <a:endParaRPr lang="en-US" altLang="zh-TW" sz="1300">
              <a:ea typeface="PMingLiU" pitchFamily="18" charset="-12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1pPr>
            <a:lvl2pPr marL="742950" indent="-28575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2pPr>
            <a:lvl3pPr marL="11430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3pPr>
            <a:lvl4pPr marL="16002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4pPr>
            <a:lvl5pPr marL="2057400" indent="-228600" defTabSz="909955"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5pPr>
            <a:lvl6pPr marL="25146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6pPr>
            <a:lvl7pPr marL="29718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7pPr>
            <a:lvl8pPr marL="34290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8pPr>
            <a:lvl9pPr marL="3886200" indent="-228600" defTabSz="90995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9pPr>
          </a:lstStyle>
          <a:p>
            <a:fld id="{2734A843-EC79-424C-82E3-F5861C5FF254}" type="slidenum">
              <a:rPr lang="zh-TW" altLang="en-US" sz="1300" smtClean="0">
                <a:ea typeface="PMingLiU" pitchFamily="18" charset="-120"/>
              </a:rPr>
            </a:fld>
            <a:endParaRPr lang="en-US" altLang="zh-TW" sz="1300">
              <a:ea typeface="PMingLiU" pitchFamily="18" charset="-12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6788" y="642938"/>
            <a:ext cx="4889500" cy="3668712"/>
          </a:xfrm>
          <a:ln w="12700" cap="flat">
            <a:solidFill>
              <a:schemeClr val="tx1"/>
            </a:solidFill>
            <a:prstDash val="sysDot"/>
          </a:ln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4350" y="4689475"/>
            <a:ext cx="5854700" cy="4443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71" tIns="46737" rIns="93471" bIns="46737"/>
          <a:lstStyle/>
          <a:p>
            <a:pPr algn="just"/>
            <a:endParaRPr lang="zh-TW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渲染本质上归结为采样</a:t>
            </a:r>
            <a:endParaRPr lang="zh-CN" altLang="en-US"/>
          </a:p>
          <a:p>
            <a:r>
              <a:rPr lang="zh-CN" altLang="en-US"/>
              <a:t>每个像素都需要被采样以决定其应显示的颜色</a:t>
            </a:r>
            <a:endParaRPr lang="zh-CN" altLang="en-US"/>
          </a:p>
          <a:p>
            <a:r>
              <a:rPr lang="zh-CN" altLang="en-US"/>
              <a:t>这种采样涉及三维空间中的计算</a:t>
            </a:r>
            <a:endParaRPr lang="zh-CN" altLang="en-US"/>
          </a:p>
          <a:p>
            <a:r>
              <a:rPr lang="zh-CN" altLang="en-US"/>
              <a:t>混叠是所选采样频率带来的不良影响</a:t>
            </a:r>
            <a:endParaRPr lang="zh-CN" altLang="en-US"/>
          </a:p>
          <a:p>
            <a:r>
              <a:rPr lang="zh-CN" altLang="en-US"/>
              <a:t>当采样频率过低时就会发生混叠现象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核心点：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渲染本质上是采样（</a:t>
            </a:r>
            <a:r>
              <a:rPr lang="en-US" altLang="zh-CN"/>
              <a:t>sampling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每个像素</a:t>
            </a:r>
            <a:r>
              <a:rPr lang="en-US" altLang="zh-CN"/>
              <a:t> = </a:t>
            </a:r>
            <a:r>
              <a:rPr lang="zh-CN" altLang="en-US"/>
              <a:t>在</a:t>
            </a:r>
            <a:r>
              <a:rPr lang="en-US" altLang="zh-CN"/>
              <a:t> 3D </a:t>
            </a:r>
            <a:r>
              <a:rPr lang="zh-CN" altLang="en-US"/>
              <a:t>场景中</a:t>
            </a:r>
            <a:r>
              <a:rPr lang="en-US" altLang="zh-CN"/>
              <a:t>“</a:t>
            </a:r>
            <a:r>
              <a:rPr lang="zh-CN" altLang="en-US"/>
              <a:t>取一个样本</a:t>
            </a:r>
            <a:r>
              <a:rPr lang="en-US" altLang="zh-CN"/>
              <a:t>”</a:t>
            </a:r>
            <a:r>
              <a:rPr lang="zh-CN" altLang="en-US"/>
              <a:t>来决定这个像素的颜色。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我们的场景、几何、纹理等都是连续的信号，但屏幕是离散的像素网格，所以必须</a:t>
            </a:r>
            <a:r>
              <a:rPr lang="en-US" altLang="zh-CN"/>
              <a:t>“</a:t>
            </a:r>
            <a:r>
              <a:rPr lang="zh-CN" altLang="en-US"/>
              <a:t>从连续到离散</a:t>
            </a:r>
            <a:r>
              <a:rPr lang="en-US" altLang="zh-CN"/>
              <a:t>”</a:t>
            </a:r>
            <a:r>
              <a:rPr lang="zh-CN" altLang="en-US"/>
              <a:t>取样。</a:t>
            </a:r>
            <a:endParaRPr lang="zh-CN" altLang="en-US"/>
          </a:p>
          <a:p>
            <a:r>
              <a:rPr lang="en-US" altLang="zh-CN"/>
              <a:t>	•	Aliasing = </a:t>
            </a:r>
            <a:r>
              <a:rPr lang="zh-CN" altLang="en-US"/>
              <a:t>采样频率太低导致的错误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采样频率不够，就会</a:t>
            </a:r>
            <a:r>
              <a:rPr lang="en-US" altLang="zh-CN"/>
              <a:t>“</a:t>
            </a:r>
            <a:r>
              <a:rPr lang="zh-CN" altLang="en-US"/>
              <a:t>误读</a:t>
            </a:r>
            <a:r>
              <a:rPr lang="en-US" altLang="zh-CN"/>
              <a:t>”</a:t>
            </a:r>
            <a:r>
              <a:rPr lang="zh-CN" altLang="en-US"/>
              <a:t>场景里的高频细节：直线变成锯齿，斜线变得不连续，细格子闪烁等。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该图像展示了一个</a:t>
            </a:r>
            <a:r>
              <a:rPr lang="en-US" altLang="zh-CN" dirty="0"/>
              <a:t> 15</a:t>
            </a:r>
            <a:r>
              <a:rPr lang="en-US" altLang="en-US" dirty="0"/>
              <a:t>×</a:t>
            </a:r>
            <a:r>
              <a:rPr lang="en-US" altLang="zh-CN" dirty="0"/>
              <a:t>16 </a:t>
            </a:r>
            <a:r>
              <a:rPr lang="zh-CN" altLang="en-US" dirty="0"/>
              <a:t>像素的阵列，每个像素的中心都有一个红色采样点，还有一个蓝色三角形。</a:t>
            </a:r>
            <a:endParaRPr lang="zh-CN" altLang="en-US" dirty="0"/>
          </a:p>
          <a:p>
            <a:r>
              <a:rPr lang="zh-CN" altLang="en-US" dirty="0"/>
              <a:t>核心思想：</a:t>
            </a:r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标准做法：只在每个像素中心采样一次，用那一个样本来决定整块像素颜色。</a:t>
            </a:r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如果三角形刚好只擦过像素的角，而中心点不在三角形内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这个像素就会被当作</a:t>
            </a:r>
            <a:r>
              <a:rPr lang="en-US" altLang="zh-CN" dirty="0"/>
              <a:t>“</a:t>
            </a:r>
            <a:r>
              <a:rPr lang="zh-CN" altLang="en-US" dirty="0"/>
              <a:t>完全没被覆盖</a:t>
            </a:r>
            <a:r>
              <a:rPr lang="en-US" altLang="zh-CN" dirty="0"/>
              <a:t>”</a:t>
            </a:r>
            <a:r>
              <a:rPr lang="zh-CN" altLang="en-US" dirty="0"/>
              <a:t>，显示背景色。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6F512F-B6A8-4FA5-8E84-2726D1ACE5DC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如果仅在像素中心点处取样，那么所得颜色将如图所示</a:t>
            </a:r>
            <a:endParaRPr lang="zh-CN" altLang="en-US" dirty="0"/>
          </a:p>
          <a:p>
            <a:r>
              <a:rPr lang="zh-CN" altLang="en-US" dirty="0"/>
              <a:t>知识点：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每个像素只在中心采样：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如果中心在三角形内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画三角形颜色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如果中心不在三角形内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画背景色</a:t>
            </a:r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由于三角形边缘是斜着穿过像素格子，这种</a:t>
            </a:r>
            <a:r>
              <a:rPr lang="en-US" altLang="zh-CN" dirty="0"/>
              <a:t>“</a:t>
            </a:r>
            <a:r>
              <a:rPr lang="zh-CN" altLang="en-US" dirty="0"/>
              <a:t>硬判断</a:t>
            </a:r>
            <a:r>
              <a:rPr lang="en-US" altLang="zh-CN" dirty="0"/>
              <a:t>”</a:t>
            </a:r>
            <a:r>
              <a:rPr lang="zh-CN" altLang="en-US" dirty="0"/>
              <a:t>会导致：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有的像素完全是三角形颜色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有的完全是背景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中间没有</a:t>
            </a:r>
            <a:r>
              <a:rPr lang="en-US" altLang="zh-CN" dirty="0"/>
              <a:t>“</a:t>
            </a:r>
            <a:r>
              <a:rPr lang="zh-CN" altLang="en-US" dirty="0"/>
              <a:t>渐变过渡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dirty="0"/>
              <a:t>	•	</a:t>
            </a:r>
            <a:r>
              <a:rPr lang="zh-CN" altLang="en-US" dirty="0"/>
              <a:t>这样在边缘就会显得：一块一块的、阶梯状的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这就是</a:t>
            </a:r>
            <a:r>
              <a:rPr lang="en-US" altLang="zh-CN" dirty="0"/>
              <a:t> aliasing </a:t>
            </a:r>
            <a:r>
              <a:rPr lang="zh-CN" altLang="en-US" dirty="0"/>
              <a:t>的表现。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可以用一句话记：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中心采样</a:t>
            </a:r>
            <a:r>
              <a:rPr lang="en-US" altLang="zh-CN" dirty="0"/>
              <a:t> + </a:t>
            </a:r>
            <a:r>
              <a:rPr lang="zh-CN" altLang="en-US" dirty="0"/>
              <a:t>硬阈值</a:t>
            </a:r>
            <a:r>
              <a:rPr lang="en-US" altLang="zh-CN" dirty="0"/>
              <a:t> = </a:t>
            </a:r>
            <a:r>
              <a:rPr lang="zh-CN" altLang="en-US" dirty="0"/>
              <a:t>硬边</a:t>
            </a:r>
            <a:r>
              <a:rPr lang="en-US" altLang="zh-CN" dirty="0"/>
              <a:t> + </a:t>
            </a:r>
            <a:r>
              <a:rPr lang="zh-CN" altLang="en-US" dirty="0"/>
              <a:t>锯齿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6F512F-B6A8-4FA5-8E84-2726D1ACE5DC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这种锯齿状现象通常被称为</a:t>
            </a:r>
            <a:r>
              <a:rPr lang="en-US" altLang="zh-CN" dirty="0"/>
              <a:t>“</a:t>
            </a:r>
            <a:r>
              <a:rPr lang="zh-CN" altLang="en-US" dirty="0"/>
              <a:t>阶梯状边缘</a:t>
            </a:r>
            <a:r>
              <a:rPr lang="en-US" altLang="zh-CN" dirty="0"/>
              <a:t>”</a:t>
            </a:r>
            <a:r>
              <a:rPr lang="zh-CN" altLang="en-US" dirty="0"/>
              <a:t>，在多边形的边缘处可以看到。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D6F512F-B6A8-4FA5-8E84-2726D1ACE5DC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超采样，也称为超采样抗锯齿（</a:t>
            </a:r>
            <a:r>
              <a:rPr lang="en-US" altLang="zh-CN"/>
              <a:t>SSAA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SSAA </a:t>
            </a:r>
            <a:r>
              <a:rPr lang="zh-CN" altLang="en-US"/>
              <a:t>可通过在每个维度上为一个像素所取的样本数量进行修改</a:t>
            </a:r>
            <a:endParaRPr lang="zh-CN" altLang="en-US"/>
          </a:p>
          <a:p>
            <a:r>
              <a:rPr lang="zh-CN" altLang="en-US"/>
              <a:t>如果显示分辨率为</a:t>
            </a:r>
            <a:r>
              <a:rPr lang="en-US" altLang="zh-CN"/>
              <a:t> 600</a:t>
            </a:r>
            <a:r>
              <a:rPr lang="en-US" altLang="en-US"/>
              <a:t>×</a:t>
            </a:r>
            <a:r>
              <a:rPr lang="en-US" altLang="zh-CN"/>
              <a:t>400 </a:t>
            </a:r>
            <a:r>
              <a:rPr lang="zh-CN" altLang="en-US"/>
              <a:t>像素，</a:t>
            </a:r>
            <a:r>
              <a:rPr lang="en-US" altLang="zh-CN"/>
              <a:t>2 </a:t>
            </a:r>
            <a:r>
              <a:rPr lang="zh-CN" altLang="en-US"/>
              <a:t>倍</a:t>
            </a:r>
            <a:r>
              <a:rPr lang="en-US" altLang="zh-CN"/>
              <a:t> SSAA </a:t>
            </a:r>
            <a:r>
              <a:rPr lang="zh-CN" altLang="en-US"/>
              <a:t>是通过在</a:t>
            </a:r>
            <a:r>
              <a:rPr lang="en-US" altLang="zh-CN"/>
              <a:t> x </a:t>
            </a:r>
            <a:r>
              <a:rPr lang="zh-CN" altLang="en-US"/>
              <a:t>和</a:t>
            </a:r>
            <a:r>
              <a:rPr lang="en-US" altLang="zh-CN"/>
              <a:t> y </a:t>
            </a:r>
            <a:r>
              <a:rPr lang="zh-CN" altLang="en-US"/>
              <a:t>屏幕维度上生成两倍数量的片段来实现的</a:t>
            </a:r>
            <a:endParaRPr lang="zh-CN" altLang="en-US"/>
          </a:p>
          <a:p>
            <a:r>
              <a:rPr lang="zh-CN" altLang="en-US"/>
              <a:t>每个像素的颜色是</a:t>
            </a:r>
            <a:r>
              <a:rPr lang="en-US" altLang="zh-CN"/>
              <a:t> 2</a:t>
            </a:r>
            <a:r>
              <a:rPr lang="en-US" altLang="en-US"/>
              <a:t>×</a:t>
            </a:r>
            <a:r>
              <a:rPr lang="en-US" altLang="zh-CN"/>
              <a:t>2 </a:t>
            </a:r>
            <a:r>
              <a:rPr lang="zh-CN" altLang="en-US"/>
              <a:t>个样本的平均颜色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Supersampling = </a:t>
            </a:r>
            <a:r>
              <a:rPr lang="zh-CN" altLang="en-US"/>
              <a:t>在更高分辨率上渲染，再做平均（</a:t>
            </a:r>
            <a:r>
              <a:rPr lang="en-US" altLang="zh-CN"/>
              <a:t>downsample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例如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屏幕：</a:t>
            </a:r>
            <a:r>
              <a:rPr lang="en-US" altLang="zh-CN"/>
              <a:t>600 </a:t>
            </a:r>
            <a:r>
              <a:rPr lang="en-US" altLang="en-US"/>
              <a:t>×</a:t>
            </a:r>
            <a:r>
              <a:rPr lang="en-US" altLang="zh-CN"/>
              <a:t> 400 </a:t>
            </a:r>
            <a:r>
              <a:rPr lang="zh-CN" altLang="en-US"/>
              <a:t>像素</a:t>
            </a:r>
            <a:endParaRPr lang="zh-CN" altLang="en-US"/>
          </a:p>
          <a:p>
            <a:r>
              <a:rPr lang="en-US" altLang="zh-CN"/>
              <a:t>2x SSAA</a:t>
            </a:r>
            <a:r>
              <a:rPr lang="zh-CN" altLang="en-US"/>
              <a:t>：在内部相当于渲染到</a:t>
            </a:r>
            <a:r>
              <a:rPr lang="en-US" altLang="zh-CN"/>
              <a:t> 1200 </a:t>
            </a:r>
            <a:r>
              <a:rPr lang="en-US" altLang="en-US"/>
              <a:t>×</a:t>
            </a:r>
            <a:r>
              <a:rPr lang="en-US" altLang="zh-CN"/>
              <a:t> 800</a:t>
            </a:r>
            <a:r>
              <a:rPr lang="zh-CN" altLang="en-US"/>
              <a:t>（</a:t>
            </a:r>
            <a:r>
              <a:rPr lang="en-US" altLang="zh-CN"/>
              <a:t>x </a:t>
            </a:r>
            <a:r>
              <a:rPr lang="zh-CN" altLang="en-US"/>
              <a:t>和</a:t>
            </a:r>
            <a:r>
              <a:rPr lang="en-US" altLang="zh-CN"/>
              <a:t> y </a:t>
            </a:r>
            <a:r>
              <a:rPr lang="zh-CN" altLang="en-US"/>
              <a:t>都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“</a:t>
            </a:r>
            <a:r>
              <a:rPr lang="zh-CN" altLang="en-US"/>
              <a:t>真实屏幕像素</a:t>
            </a:r>
            <a:r>
              <a:rPr lang="en-US" altLang="zh-CN"/>
              <a:t>”</a:t>
            </a:r>
            <a:r>
              <a:rPr lang="zh-CN" altLang="en-US"/>
              <a:t>其实由</a:t>
            </a:r>
            <a:r>
              <a:rPr lang="en-US" altLang="zh-CN"/>
              <a:t> 2</a:t>
            </a:r>
            <a:r>
              <a:rPr lang="en-US" altLang="en-US"/>
              <a:t>×</a:t>
            </a:r>
            <a:r>
              <a:rPr lang="en-US" altLang="zh-CN"/>
              <a:t>2 = 4 </a:t>
            </a:r>
            <a:r>
              <a:rPr lang="zh-CN" altLang="en-US"/>
              <a:t>个子样本组成。</a:t>
            </a:r>
            <a:endParaRPr lang="zh-CN" altLang="en-US"/>
          </a:p>
          <a:p>
            <a:r>
              <a:rPr lang="zh-CN" altLang="en-US"/>
              <a:t>对这</a:t>
            </a:r>
            <a:r>
              <a:rPr lang="en-US" altLang="zh-CN"/>
              <a:t> 4 </a:t>
            </a:r>
            <a:r>
              <a:rPr lang="zh-CN" altLang="en-US"/>
              <a:t>个样本的颜色求平均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得到一个最终像素颜色。</a:t>
            </a:r>
            <a:endParaRPr lang="zh-CN" altLang="en-US"/>
          </a:p>
          <a:p>
            <a:r>
              <a:rPr lang="zh-CN" altLang="en-US"/>
              <a:t>视觉上：边缘区域会出现中间色（比如半红半白变成浅红），看起来就平滑了。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2x SSAA</a:t>
            </a:r>
            <a:r>
              <a:rPr lang="zh-CN" altLang="en-US"/>
              <a:t>：</a:t>
            </a:r>
            <a:r>
              <a:rPr lang="en-US" altLang="zh-CN"/>
              <a:t>x </a:t>
            </a:r>
            <a:r>
              <a:rPr lang="zh-CN" altLang="en-US"/>
              <a:t>和</a:t>
            </a:r>
            <a:r>
              <a:rPr lang="en-US" altLang="zh-CN"/>
              <a:t> y </a:t>
            </a:r>
            <a:r>
              <a:rPr lang="zh-CN" altLang="en-US"/>
              <a:t>各乘</a:t>
            </a:r>
            <a:r>
              <a:rPr lang="en-US" altLang="zh-CN"/>
              <a:t> 2</a:t>
            </a:r>
            <a:r>
              <a:rPr lang="zh-CN" altLang="en-US"/>
              <a:t>，总样本数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4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4x SSAA</a:t>
            </a:r>
            <a:r>
              <a:rPr lang="zh-CN" altLang="en-US"/>
              <a:t>（常见口语）通常指</a:t>
            </a:r>
            <a:r>
              <a:rPr lang="en-US" altLang="zh-CN"/>
              <a:t>“</a:t>
            </a:r>
            <a:r>
              <a:rPr lang="zh-CN" altLang="en-US"/>
              <a:t>每像素</a:t>
            </a:r>
            <a:r>
              <a:rPr lang="en-US" altLang="zh-CN"/>
              <a:t> 4 </a:t>
            </a:r>
            <a:r>
              <a:rPr lang="zh-CN" altLang="en-US"/>
              <a:t>个样本</a:t>
            </a:r>
            <a:r>
              <a:rPr lang="en-US" altLang="zh-CN"/>
              <a:t>”</a:t>
            </a:r>
            <a:r>
              <a:rPr lang="zh-CN" altLang="en-US"/>
              <a:t>，也可以是</a:t>
            </a:r>
            <a:r>
              <a:rPr lang="en-US" altLang="zh-CN"/>
              <a:t> 2</a:t>
            </a:r>
            <a:r>
              <a:rPr lang="en-US" altLang="en-US"/>
              <a:t>×</a:t>
            </a:r>
            <a:r>
              <a:rPr lang="en-US" altLang="zh-CN"/>
              <a:t>2 pattern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在该图中，可以看到</a:t>
            </a:r>
            <a:r>
              <a:rPr lang="en-US" altLang="zh-CN"/>
              <a:t> 4 </a:t>
            </a:r>
            <a:r>
              <a:rPr lang="zh-CN" altLang="en-US"/>
              <a:t>个像素，其中心点用红色标出。</a:t>
            </a:r>
            <a:endParaRPr lang="zh-CN" altLang="en-US"/>
          </a:p>
          <a:p>
            <a:r>
              <a:rPr lang="zh-CN" altLang="en-US"/>
              <a:t>每个像素都使用片段着色器取了</a:t>
            </a:r>
            <a:r>
              <a:rPr lang="en-US" altLang="zh-CN"/>
              <a:t> 4 </a:t>
            </a:r>
            <a:r>
              <a:rPr lang="zh-CN" altLang="en-US"/>
              <a:t>个样本，如黄色点所示。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像素（</a:t>
            </a:r>
            <a:r>
              <a:rPr lang="en-US" altLang="zh-CN"/>
              <a:t>pixel</a:t>
            </a:r>
            <a:r>
              <a:rPr lang="zh-CN" altLang="en-US"/>
              <a:t>）</a:t>
            </a:r>
            <a:r>
              <a:rPr lang="en-US" altLang="zh-CN"/>
              <a:t> ≠ </a:t>
            </a:r>
            <a:r>
              <a:rPr lang="zh-CN" altLang="en-US"/>
              <a:t>样本（</a:t>
            </a:r>
            <a:r>
              <a:rPr lang="en-US" altLang="zh-CN"/>
              <a:t>sample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一个像素可以包含多个样本。</a:t>
            </a:r>
            <a:endParaRPr lang="zh-CN" altLang="en-US"/>
          </a:p>
          <a:p>
            <a:r>
              <a:rPr lang="zh-CN" altLang="en-US"/>
              <a:t>抗锯齿时，我们真正计算光照、阴影、是否在三角形内，是按</a:t>
            </a:r>
            <a:r>
              <a:rPr lang="en-US" altLang="zh-CN"/>
              <a:t>“</a:t>
            </a:r>
            <a:r>
              <a:rPr lang="zh-CN" altLang="en-US"/>
              <a:t>样本点</a:t>
            </a:r>
            <a:r>
              <a:rPr lang="en-US" altLang="zh-CN"/>
              <a:t>”</a:t>
            </a:r>
            <a:r>
              <a:rPr lang="zh-CN" altLang="en-US"/>
              <a:t>算的。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 SSAA </a:t>
            </a:r>
            <a:r>
              <a:rPr lang="zh-CN" altLang="en-US"/>
              <a:t>中：</a:t>
            </a:r>
            <a:endParaRPr lang="zh-CN" altLang="en-US"/>
          </a:p>
          <a:p>
            <a:r>
              <a:rPr lang="en-US" altLang="zh-CN"/>
              <a:t>fragment shader </a:t>
            </a:r>
            <a:r>
              <a:rPr lang="zh-CN" altLang="en-US"/>
              <a:t>对每个样本调用一次。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然后每个像素的颜色被计算为该像素的</a:t>
            </a:r>
            <a:r>
              <a:rPr lang="en-US" altLang="zh-CN"/>
              <a:t> 4 </a:t>
            </a:r>
            <a:r>
              <a:rPr lang="zh-CN" altLang="en-US"/>
              <a:t>个样本的平均值</a:t>
            </a:r>
            <a:endParaRPr lang="zh-CN" altLang="en-US"/>
          </a:p>
          <a:p>
            <a:r>
              <a:rPr lang="zh-CN" altLang="en-US"/>
              <a:t>在超采样抗锯齿（</a:t>
            </a:r>
            <a:r>
              <a:rPr lang="en-US" altLang="zh-CN"/>
              <a:t>SSAA</a:t>
            </a:r>
            <a:r>
              <a:rPr lang="zh-CN" altLang="en-US"/>
              <a:t>）中，对于三角形内的每个样本，片段着色器都会被调用一次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重点：</a:t>
            </a:r>
            <a:endParaRPr lang="zh-CN" altLang="en-US"/>
          </a:p>
          <a:p>
            <a:r>
              <a:rPr lang="en-US" altLang="zh-CN"/>
              <a:t>	1.	</a:t>
            </a:r>
            <a:r>
              <a:rPr lang="zh-CN" altLang="en-US"/>
              <a:t>对每个样本：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用</a:t>
            </a:r>
            <a:r>
              <a:rPr lang="en-US" altLang="zh-CN"/>
              <a:t> fragment shader </a:t>
            </a:r>
            <a:r>
              <a:rPr lang="zh-CN" altLang="en-US"/>
              <a:t>计算它的颜色（纹理采样、光照等）。</a:t>
            </a:r>
            <a:endParaRPr lang="zh-CN" altLang="en-US"/>
          </a:p>
          <a:p>
            <a:r>
              <a:rPr lang="en-US" altLang="zh-CN"/>
              <a:t>	2.	</a:t>
            </a:r>
            <a:r>
              <a:rPr lang="zh-CN" altLang="en-US"/>
              <a:t>对一个像素内的所有样本：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取平均（加起来除以样本数）。</a:t>
            </a:r>
            <a:endParaRPr lang="zh-CN" altLang="en-US"/>
          </a:p>
          <a:p>
            <a:r>
              <a:rPr lang="en-US" altLang="zh-CN"/>
              <a:t>	3.	</a:t>
            </a:r>
            <a:r>
              <a:rPr lang="zh-CN" altLang="en-US"/>
              <a:t>性能开销：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如果是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 SSAA</a:t>
            </a:r>
            <a:r>
              <a:rPr lang="zh-CN" altLang="en-US"/>
              <a:t>（每像素</a:t>
            </a:r>
            <a:r>
              <a:rPr lang="en-US" altLang="zh-CN"/>
              <a:t> 4 </a:t>
            </a:r>
            <a:r>
              <a:rPr lang="zh-CN" altLang="en-US"/>
              <a:t>样本），</a:t>
            </a:r>
            <a:r>
              <a:rPr lang="en-US" altLang="zh-CN"/>
              <a:t>fragment shader </a:t>
            </a:r>
            <a:r>
              <a:rPr lang="zh-CN" altLang="en-US"/>
              <a:t>的调用次数大约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4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非常</a:t>
            </a:r>
            <a:r>
              <a:rPr lang="en-US" altLang="zh-CN"/>
              <a:t>“</a:t>
            </a:r>
            <a:r>
              <a:rPr lang="zh-CN" altLang="en-US"/>
              <a:t>贵</a:t>
            </a:r>
            <a:r>
              <a:rPr lang="en-US" altLang="zh-CN"/>
              <a:t>”</a:t>
            </a:r>
            <a:r>
              <a:rPr lang="zh-CN" altLang="en-US"/>
              <a:t>，但效果很好。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一行总结：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SSAA = </a:t>
            </a:r>
            <a:r>
              <a:rPr lang="zh-CN" altLang="en-US"/>
              <a:t>多算几次</a:t>
            </a:r>
            <a:r>
              <a:rPr lang="en-US" altLang="zh-CN"/>
              <a:t> fragment shader + </a:t>
            </a:r>
            <a:r>
              <a:rPr lang="zh-CN" altLang="en-US"/>
              <a:t>多个样本平均，从几何上</a:t>
            </a:r>
            <a:r>
              <a:rPr lang="en-US" altLang="zh-CN"/>
              <a:t>“</a:t>
            </a:r>
            <a:r>
              <a:rPr lang="zh-CN" altLang="en-US"/>
              <a:t>模糊</a:t>
            </a:r>
            <a:r>
              <a:rPr lang="en-US" altLang="zh-CN"/>
              <a:t>”</a:t>
            </a:r>
            <a:r>
              <a:rPr lang="zh-CN" altLang="en-US"/>
              <a:t>边缘，减少锯齿。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经过超采样处理后的渲染结果要平滑得多。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这一页就是视觉对比：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左：无抗锯齿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锯齿明显。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右：用</a:t>
            </a:r>
            <a:r>
              <a:rPr lang="en-US" altLang="zh-CN"/>
              <a:t> SSAA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边缘平滑，过渡柔和。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你需要记住的要点：</a:t>
            </a:r>
            <a:endParaRPr lang="zh-CN" altLang="en-US"/>
          </a:p>
          <a:p>
            <a:r>
              <a:rPr lang="en-US" altLang="zh-CN"/>
              <a:t>	•	SSAA </a:t>
            </a:r>
            <a:r>
              <a:rPr lang="zh-CN" altLang="en-US"/>
              <a:t>几乎是画质最好的抗锯齿方法之一。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但代价是：计算量和显存占用成倍增加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实时渲染不划算（游戏通常不用纯</a:t>
            </a:r>
            <a:r>
              <a:rPr lang="en-US" altLang="zh-CN"/>
              <a:t> SSAA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多重采样，即多重采样抗锯齿（</a:t>
            </a:r>
            <a:r>
              <a:rPr lang="en-US" altLang="zh-CN"/>
              <a:t>MSAA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 MSAA </a:t>
            </a:r>
            <a:r>
              <a:rPr lang="zh-CN" altLang="en-US"/>
              <a:t>中，对于三角形内部的每个像素，片段着色器仅被调用一次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这里开始讲</a:t>
            </a:r>
            <a:r>
              <a:rPr lang="en-US" altLang="zh-CN"/>
              <a:t> MSAA</a:t>
            </a:r>
            <a:r>
              <a:rPr lang="zh-CN" altLang="en-US"/>
              <a:t>，和</a:t>
            </a:r>
            <a:r>
              <a:rPr lang="en-US" altLang="zh-CN"/>
              <a:t> SSAA </a:t>
            </a:r>
            <a:r>
              <a:rPr lang="zh-CN" altLang="en-US"/>
              <a:t>的主要区别：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和</a:t>
            </a:r>
            <a:r>
              <a:rPr lang="en-US" altLang="zh-CN"/>
              <a:t> SSAA </a:t>
            </a:r>
            <a:r>
              <a:rPr lang="zh-CN" altLang="en-US"/>
              <a:t>一样：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一个像素仍然有多个覆盖样本（</a:t>
            </a:r>
            <a:r>
              <a:rPr lang="en-US" altLang="zh-CN"/>
              <a:t>coverage samples</a:t>
            </a:r>
            <a:r>
              <a:rPr lang="zh-CN" altLang="en-US"/>
              <a:t>），用来判断</a:t>
            </a:r>
            <a:r>
              <a:rPr lang="en-US" altLang="zh-CN"/>
              <a:t>“</a:t>
            </a:r>
            <a:r>
              <a:rPr lang="zh-CN" altLang="en-US"/>
              <a:t>哪些部分被几何覆盖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不同点（非常关键）：</a:t>
            </a:r>
            <a:endParaRPr lang="zh-CN" altLang="en-US"/>
          </a:p>
          <a:p>
            <a:r>
              <a:rPr lang="en-US" altLang="zh-CN"/>
              <a:t>	•	fragment shader </a:t>
            </a:r>
            <a:r>
              <a:rPr lang="zh-CN" altLang="en-US"/>
              <a:t>每像素只调用一次，不是每个样本一次。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算出来的颜色被</a:t>
            </a:r>
            <a:r>
              <a:rPr lang="en-US" altLang="zh-CN"/>
              <a:t>“</a:t>
            </a:r>
            <a:r>
              <a:rPr lang="zh-CN" altLang="en-US"/>
              <a:t>复制</a:t>
            </a:r>
            <a:r>
              <a:rPr lang="en-US" altLang="zh-CN"/>
              <a:t>”</a:t>
            </a:r>
            <a:r>
              <a:rPr lang="zh-CN" altLang="en-US"/>
              <a:t>到所有被覆盖的样本上。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这直接导致：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比</a:t>
            </a:r>
            <a:r>
              <a:rPr lang="en-US" altLang="zh-CN"/>
              <a:t> SSAA </a:t>
            </a:r>
            <a:r>
              <a:rPr lang="zh-CN" altLang="en-US"/>
              <a:t>快很多（</a:t>
            </a:r>
            <a:r>
              <a:rPr lang="en-US" altLang="zh-CN"/>
              <a:t>shader </a:t>
            </a:r>
            <a:r>
              <a:rPr lang="zh-CN" altLang="en-US"/>
              <a:t>调用次数少）。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但只对几何边缘的</a:t>
            </a:r>
            <a:r>
              <a:rPr lang="en-US" altLang="zh-CN"/>
              <a:t> aliasing </a:t>
            </a:r>
            <a:r>
              <a:rPr lang="zh-CN" altLang="en-US"/>
              <a:t>有效果，对纹理内部的高频细节（例如细线、棋盘格）抑制不如</a:t>
            </a:r>
            <a:r>
              <a:rPr lang="en-US" altLang="zh-CN"/>
              <a:t> SSAA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颜色被复制到三角形内部的采样点上。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更细地讲</a:t>
            </a:r>
            <a:r>
              <a:rPr lang="en-US" altLang="zh-CN"/>
              <a:t> MSAA </a:t>
            </a:r>
            <a:r>
              <a:rPr lang="zh-CN" altLang="en-US"/>
              <a:t>流程：</a:t>
            </a:r>
            <a:endParaRPr lang="zh-CN" altLang="en-US"/>
          </a:p>
          <a:p>
            <a:r>
              <a:rPr lang="en-US" altLang="zh-CN"/>
              <a:t>	1.	</a:t>
            </a:r>
            <a:r>
              <a:rPr lang="zh-CN" altLang="en-US"/>
              <a:t>一个像素内部有多个采样位置（</a:t>
            </a:r>
            <a:r>
              <a:rPr lang="en-US" altLang="zh-CN"/>
              <a:t>sample points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en-US" altLang="zh-CN"/>
              <a:t>	2.	</a:t>
            </a:r>
            <a:r>
              <a:rPr lang="zh-CN" altLang="en-US"/>
              <a:t>对这个像素：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只运行一次</a:t>
            </a:r>
            <a:r>
              <a:rPr lang="en-US" altLang="zh-CN"/>
              <a:t> fragment shader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得到一个颜色值</a:t>
            </a:r>
            <a:r>
              <a:rPr lang="en-US" altLang="zh-CN"/>
              <a:t> C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	3.	</a:t>
            </a:r>
            <a:r>
              <a:rPr lang="zh-CN" altLang="en-US"/>
              <a:t>对每个样本：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如果这个样本在三角形内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赋值颜色</a:t>
            </a:r>
            <a:r>
              <a:rPr lang="en-US" altLang="zh-CN"/>
              <a:t> C</a:t>
            </a:r>
            <a:endParaRPr lang="en-US" altLang="zh-CN"/>
          </a:p>
          <a:p>
            <a:r>
              <a:rPr lang="en-US" altLang="zh-CN"/>
              <a:t>	•	</a:t>
            </a:r>
            <a:r>
              <a:rPr lang="zh-CN" altLang="en-US"/>
              <a:t>如果在外面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保持背景颜色。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重点：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覆盖信息（</a:t>
            </a:r>
            <a:r>
              <a:rPr lang="en-US" altLang="zh-CN"/>
              <a:t>coverage</a:t>
            </a:r>
            <a:r>
              <a:rPr lang="zh-CN" altLang="en-US"/>
              <a:t>）是</a:t>
            </a:r>
            <a:r>
              <a:rPr lang="en-US" altLang="zh-CN"/>
              <a:t> per-sample 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颜色计算是</a:t>
            </a:r>
            <a:r>
              <a:rPr lang="en-US" altLang="zh-CN"/>
              <a:t> per-pixel </a:t>
            </a:r>
            <a:r>
              <a:rPr lang="zh-CN" altLang="en-US"/>
              <a:t>的，再根据覆盖情况复制到样本。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然后像素的颜色就是这</a:t>
            </a:r>
            <a:r>
              <a:rPr lang="en-US" altLang="zh-CN"/>
              <a:t> 4 </a:t>
            </a:r>
            <a:r>
              <a:rPr lang="zh-CN" altLang="en-US"/>
              <a:t>个样本的平均值。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最后一步和</a:t>
            </a:r>
            <a:r>
              <a:rPr lang="en-US" altLang="zh-CN"/>
              <a:t> SSAA </a:t>
            </a:r>
            <a:r>
              <a:rPr lang="zh-CN" altLang="en-US"/>
              <a:t>类似：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像素颜色</a:t>
            </a:r>
            <a:r>
              <a:rPr lang="en-US" altLang="zh-CN"/>
              <a:t> = </a:t>
            </a:r>
            <a:r>
              <a:rPr lang="zh-CN" altLang="en-US"/>
              <a:t>像素内所有样本颜色的平均。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边缘像素：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有的样本是三角形颜色，有的是背景颜色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平均后得到中间色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视觉上就成了柔和的边缘。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对比总结（</a:t>
            </a:r>
            <a:r>
              <a:rPr lang="en-US" altLang="zh-CN"/>
              <a:t>SSAA vs MSAA</a:t>
            </a:r>
            <a:r>
              <a:rPr lang="zh-CN" altLang="en-US"/>
              <a:t>）：</a:t>
            </a:r>
            <a:endParaRPr lang="zh-CN" altLang="en-US"/>
          </a:p>
          <a:p>
            <a:r>
              <a:rPr lang="en-US" altLang="zh-CN"/>
              <a:t>	•	SSAA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•	shader</a:t>
            </a:r>
            <a:r>
              <a:rPr lang="zh-CN" altLang="en-US"/>
              <a:t>：对每个样本调用一次。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既抗几何</a:t>
            </a:r>
            <a:r>
              <a:rPr lang="en-US" altLang="zh-CN"/>
              <a:t> aliasing</a:t>
            </a:r>
            <a:r>
              <a:rPr lang="zh-CN" altLang="en-US"/>
              <a:t>，也对纹理</a:t>
            </a:r>
            <a:r>
              <a:rPr lang="en-US" altLang="zh-CN"/>
              <a:t> aliasing </a:t>
            </a:r>
            <a:r>
              <a:rPr lang="zh-CN" altLang="en-US"/>
              <a:t>有帮助。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慢。</a:t>
            </a:r>
            <a:endParaRPr lang="zh-CN" altLang="en-US"/>
          </a:p>
          <a:p>
            <a:r>
              <a:rPr lang="en-US" altLang="zh-CN"/>
              <a:t>	•	MSAA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	•	shader</a:t>
            </a:r>
            <a:r>
              <a:rPr lang="zh-CN" altLang="en-US"/>
              <a:t>：对每像素只调用一次。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主要针对几何边缘</a:t>
            </a:r>
            <a:r>
              <a:rPr lang="en-US" altLang="zh-CN"/>
              <a:t> aliasing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快很多，是实时渲染常用方案。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时间抗锯齿（</a:t>
            </a:r>
            <a:r>
              <a:rPr lang="en-US" altLang="zh-CN"/>
              <a:t>TAA</a:t>
            </a:r>
            <a:r>
              <a:rPr lang="zh-CN" altLang="en-US"/>
              <a:t>）是另一种抗锯齿算法。</a:t>
            </a:r>
            <a:endParaRPr lang="zh-CN" altLang="en-US"/>
          </a:p>
          <a:p>
            <a:r>
              <a:rPr lang="en-US" altLang="zh-CN"/>
              <a:t>TAA </a:t>
            </a:r>
            <a:r>
              <a:rPr lang="zh-CN" altLang="en-US"/>
              <a:t>的工作原理与</a:t>
            </a:r>
            <a:r>
              <a:rPr lang="en-US" altLang="zh-CN"/>
              <a:t> SSAA </a:t>
            </a:r>
            <a:r>
              <a:rPr lang="zh-CN" altLang="en-US"/>
              <a:t>大致相同。</a:t>
            </a:r>
            <a:endParaRPr lang="zh-CN" altLang="en-US"/>
          </a:p>
          <a:p>
            <a:r>
              <a:rPr lang="zh-CN" altLang="en-US"/>
              <a:t>不同之处在于，对于</a:t>
            </a:r>
            <a:r>
              <a:rPr lang="en-US" altLang="zh-CN"/>
              <a:t> TAA</a:t>
            </a:r>
            <a:r>
              <a:rPr lang="zh-CN" altLang="en-US"/>
              <a:t>，每个像素的</a:t>
            </a:r>
            <a:r>
              <a:rPr lang="en-US" altLang="zh-CN"/>
              <a:t> 4 </a:t>
            </a:r>
            <a:r>
              <a:rPr lang="zh-CN" altLang="en-US"/>
              <a:t>个样本并非由片段着色器从单帧生成。</a:t>
            </a:r>
            <a:endParaRPr lang="zh-CN" altLang="en-US"/>
          </a:p>
          <a:p>
            <a:r>
              <a:rPr lang="zh-CN" altLang="en-US"/>
              <a:t>相反，</a:t>
            </a:r>
            <a:r>
              <a:rPr lang="en-US" altLang="zh-CN"/>
              <a:t>TAA </a:t>
            </a:r>
            <a:r>
              <a:rPr lang="zh-CN" altLang="en-US"/>
              <a:t>算法每帧获取一个样本，因此需要四个帧（或时间点）来获取四个样本。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TAA = </a:t>
            </a:r>
            <a:r>
              <a:rPr lang="zh-CN" altLang="en-US"/>
              <a:t>利用时间维度的抗锯齿：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目标：达到</a:t>
            </a:r>
            <a:r>
              <a:rPr lang="en-US" altLang="zh-CN"/>
              <a:t>“</a:t>
            </a:r>
            <a:r>
              <a:rPr lang="zh-CN" altLang="en-US"/>
              <a:t>类似</a:t>
            </a:r>
            <a:r>
              <a:rPr lang="en-US" altLang="zh-CN"/>
              <a:t> SSAA”</a:t>
            </a:r>
            <a:r>
              <a:rPr lang="zh-CN" altLang="en-US"/>
              <a:t>的多样本效果，但又不想在单帧里算那么多样本。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做法：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每一帧，只对每个像素取</a:t>
            </a:r>
            <a:r>
              <a:rPr lang="en-US" altLang="zh-CN"/>
              <a:t> 1 </a:t>
            </a:r>
            <a:r>
              <a:rPr lang="zh-CN" altLang="en-US"/>
              <a:t>个样本，但是：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通过轻微的</a:t>
            </a:r>
            <a:r>
              <a:rPr lang="en-US" altLang="zh-CN"/>
              <a:t> jitter / </a:t>
            </a:r>
            <a:r>
              <a:rPr lang="zh-CN" altLang="en-US"/>
              <a:t>偏移，让每一帧的采样位置略有不同。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随着时间的推移（比如</a:t>
            </a:r>
            <a:r>
              <a:rPr lang="en-US" altLang="zh-CN"/>
              <a:t> 4 </a:t>
            </a:r>
            <a:r>
              <a:rPr lang="zh-CN" altLang="en-US"/>
              <a:t>帧），你在同一像素上就收集到了</a:t>
            </a:r>
            <a:r>
              <a:rPr lang="en-US" altLang="zh-CN"/>
              <a:t> 4 </a:t>
            </a:r>
            <a:r>
              <a:rPr lang="zh-CN" altLang="en-US"/>
              <a:t>个不同位置的样本。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然后用历史帧信息</a:t>
            </a:r>
            <a:r>
              <a:rPr lang="en-US" altLang="zh-CN"/>
              <a:t> + </a:t>
            </a:r>
            <a:r>
              <a:rPr lang="zh-CN" altLang="en-US"/>
              <a:t>当前帧做滤波，得到一个平滑的结果。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一句话记忆：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SSAA</a:t>
            </a:r>
            <a:r>
              <a:rPr lang="zh-CN" altLang="en-US"/>
              <a:t>：空间里多取样。</a:t>
            </a:r>
            <a:endParaRPr lang="zh-CN" altLang="en-US"/>
          </a:p>
          <a:p>
            <a:r>
              <a:rPr lang="en-US" altLang="zh-CN"/>
              <a:t>TAA</a:t>
            </a:r>
            <a:r>
              <a:rPr lang="zh-CN" altLang="en-US"/>
              <a:t>：时间上多取样（每帧只取一点，但积累起来变成多样本）。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 x </a:t>
            </a:r>
            <a:r>
              <a:rPr lang="zh-CN" altLang="en-US"/>
              <a:t>和</a:t>
            </a:r>
            <a:r>
              <a:rPr lang="en-US" altLang="zh-CN"/>
              <a:t> y </a:t>
            </a:r>
            <a:r>
              <a:rPr lang="zh-CN" altLang="en-US"/>
              <a:t>屏幕维度上，每帧每个像素的样本数量为</a:t>
            </a:r>
            <a:r>
              <a:rPr lang="en-US" altLang="zh-CN"/>
              <a:t> 1 </a:t>
            </a:r>
            <a:r>
              <a:rPr lang="zh-CN" altLang="en-US"/>
              <a:t>个，</a:t>
            </a:r>
            <a:r>
              <a:rPr lang="en-US" altLang="zh-CN"/>
              <a:t>TAA </a:t>
            </a:r>
            <a:r>
              <a:rPr lang="zh-CN" altLang="en-US"/>
              <a:t>具有</a:t>
            </a:r>
            <a:r>
              <a:rPr lang="en-US" altLang="zh-CN"/>
              <a:t> SSAA </a:t>
            </a:r>
            <a:r>
              <a:rPr lang="zh-CN" altLang="en-US"/>
              <a:t>的抗锯齿效果，但无需耗费大量时间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重点：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每一帧：</a:t>
            </a:r>
            <a:endParaRPr lang="zh-CN" altLang="en-US"/>
          </a:p>
          <a:p>
            <a:r>
              <a:rPr lang="en-US" altLang="zh-CN"/>
              <a:t>	•	x</a:t>
            </a:r>
            <a:r>
              <a:rPr lang="zh-CN" altLang="en-US"/>
              <a:t>、</a:t>
            </a:r>
            <a:r>
              <a:rPr lang="en-US" altLang="zh-CN"/>
              <a:t>y </a:t>
            </a:r>
            <a:r>
              <a:rPr lang="zh-CN" altLang="en-US"/>
              <a:t>方向上</a:t>
            </a:r>
            <a:r>
              <a:rPr lang="en-US" altLang="zh-CN"/>
              <a:t> </a:t>
            </a:r>
            <a:r>
              <a:rPr lang="zh-CN" altLang="en-US"/>
              <a:t>每个像素只取一个样本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和普通渲染一样快，几乎不增加</a:t>
            </a:r>
            <a:r>
              <a:rPr lang="en-US" altLang="zh-CN"/>
              <a:t> fragment shader </a:t>
            </a:r>
            <a:r>
              <a:rPr lang="zh-CN" altLang="en-US"/>
              <a:t>调用次数。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多帧叠加：</a:t>
            </a:r>
            <a:endParaRPr lang="zh-CN" altLang="en-US"/>
          </a:p>
          <a:p>
            <a:r>
              <a:rPr lang="en-US" altLang="zh-CN"/>
              <a:t>	•	4 </a:t>
            </a:r>
            <a:r>
              <a:rPr lang="zh-CN" altLang="en-US"/>
              <a:t>帧之后，相当于你为每个像素凑齐了</a:t>
            </a:r>
            <a:r>
              <a:rPr lang="en-US" altLang="zh-CN"/>
              <a:t> 4 </a:t>
            </a:r>
            <a:r>
              <a:rPr lang="zh-CN" altLang="en-US"/>
              <a:t>个不同位置的样本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和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 SSAA </a:t>
            </a:r>
            <a:r>
              <a:rPr lang="zh-CN" altLang="en-US"/>
              <a:t>很像。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静态画面：效果</a:t>
            </a:r>
            <a:r>
              <a:rPr lang="en-US" altLang="zh-CN"/>
              <a:t> ≈ SSAA</a:t>
            </a:r>
            <a:r>
              <a:rPr lang="zh-CN" altLang="en-US"/>
              <a:t>，开销</a:t>
            </a:r>
            <a:r>
              <a:rPr lang="en-US" altLang="zh-CN"/>
              <a:t> ≈ </a:t>
            </a:r>
            <a:r>
              <a:rPr lang="zh-CN" altLang="en-US"/>
              <a:t>普通渲染</a:t>
            </a:r>
            <a:r>
              <a:rPr lang="en-US" altLang="zh-CN"/>
              <a:t> + </a:t>
            </a:r>
            <a:r>
              <a:rPr lang="zh-CN" altLang="en-US"/>
              <a:t>一点额外缓冲</a:t>
            </a:r>
            <a:r>
              <a:rPr lang="en-US" altLang="zh-CN"/>
              <a:t> &amp; </a:t>
            </a:r>
            <a:r>
              <a:rPr lang="zh-CN" altLang="en-US"/>
              <a:t>滤波。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这是现代游戏里非常常见的抗锯齿方式。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如果图像移动速度快，就会出现鬼影。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缺点在于它依赖历史帧信息：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当场景、相机、物体移动得很快时：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之前积累的样本位置不再对得上当前像素位置。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历史颜色被</a:t>
            </a:r>
            <a:r>
              <a:rPr lang="en-US" altLang="zh-CN"/>
              <a:t> “</a:t>
            </a:r>
            <a:r>
              <a:rPr lang="zh-CN" altLang="en-US"/>
              <a:t>错位</a:t>
            </a:r>
            <a:r>
              <a:rPr lang="en-US" altLang="zh-CN"/>
              <a:t>”</a:t>
            </a:r>
            <a:r>
              <a:rPr lang="zh-CN" altLang="en-US"/>
              <a:t>叠加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产生</a:t>
            </a:r>
            <a:r>
              <a:rPr lang="en-US" altLang="zh-CN"/>
              <a:t>Ghosting</a:t>
            </a:r>
            <a:r>
              <a:rPr lang="zh-CN" altLang="en-US"/>
              <a:t>（残影、拖影）。</a:t>
            </a:r>
            <a:endParaRPr lang="zh-CN" altLang="en-US"/>
          </a:p>
          <a:p>
            <a:r>
              <a:rPr lang="en-US" altLang="zh-CN"/>
              <a:t>	</a:t>
            </a:r>
            <a:r>
              <a:rPr lang="zh-CN" altLang="en-US"/>
              <a:t>常见表现：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移动时边缘模糊、尾巴状残影、</a:t>
            </a:r>
            <a:r>
              <a:rPr lang="en-US" altLang="zh-CN"/>
              <a:t>UI </a:t>
            </a:r>
            <a:r>
              <a:rPr lang="zh-CN" altLang="en-US"/>
              <a:t>元素糊成一团等。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如果图像移动速度快，就会出现鬼影。</a:t>
            </a:r>
            <a:endParaRPr lang="zh-CN" altLang="en-US"/>
          </a:p>
          <a:p>
            <a:r>
              <a:rPr lang="zh-CN" altLang="en-US"/>
              <a:t>如果渲染的是静态图像，那么</a:t>
            </a:r>
            <a:r>
              <a:rPr lang="en-US" altLang="zh-CN"/>
              <a:t> TAA </a:t>
            </a:r>
            <a:r>
              <a:rPr lang="zh-CN" altLang="en-US"/>
              <a:t>的效果与</a:t>
            </a:r>
            <a:r>
              <a:rPr lang="en-US" altLang="zh-CN"/>
              <a:t> SSAA </a:t>
            </a:r>
            <a:r>
              <a:rPr lang="zh-CN" altLang="en-US"/>
              <a:t>相同，但</a:t>
            </a:r>
            <a:r>
              <a:rPr lang="en-US" altLang="zh-CN"/>
              <a:t> TAA </a:t>
            </a:r>
            <a:r>
              <a:rPr lang="zh-CN" altLang="en-US"/>
              <a:t>的速度要快得多。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这一页是对三种方法的整体比较，你可以总结成表格式记忆：</a:t>
            </a:r>
            <a:endParaRPr lang="zh-CN" altLang="en-US"/>
          </a:p>
          <a:p>
            <a:r>
              <a:rPr lang="en-US" altLang="zh-CN"/>
              <a:t>	•SSAA</a:t>
            </a:r>
            <a:endParaRPr lang="en-US" altLang="zh-CN"/>
          </a:p>
          <a:p>
            <a:r>
              <a:rPr lang="en-US" altLang="zh-CN"/>
              <a:t>	•	</a:t>
            </a:r>
            <a:r>
              <a:rPr lang="zh-CN" altLang="en-US"/>
              <a:t>质量：最高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原理：空间上多样本（高分辨率渲染</a:t>
            </a:r>
            <a:r>
              <a:rPr lang="en-US" altLang="zh-CN"/>
              <a:t> + downsample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开销：最大（</a:t>
            </a:r>
            <a:r>
              <a:rPr lang="en-US" altLang="zh-CN"/>
              <a:t>shader </a:t>
            </a:r>
            <a:r>
              <a:rPr lang="zh-CN" altLang="en-US"/>
              <a:t>调用次数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N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	•MSAA</a:t>
            </a:r>
            <a:endParaRPr lang="en-US" altLang="zh-CN"/>
          </a:p>
          <a:p>
            <a:r>
              <a:rPr lang="en-US" altLang="zh-CN"/>
              <a:t>	•	</a:t>
            </a:r>
            <a:r>
              <a:rPr lang="zh-CN" altLang="en-US"/>
              <a:t>质量：比无</a:t>
            </a:r>
            <a:r>
              <a:rPr lang="en-US" altLang="zh-CN"/>
              <a:t> AA </a:t>
            </a:r>
            <a:r>
              <a:rPr lang="zh-CN" altLang="en-US"/>
              <a:t>好，主要改善几何边缘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原理：覆盖样本</a:t>
            </a:r>
            <a:r>
              <a:rPr lang="en-US" altLang="zh-CN"/>
              <a:t> per-sample</a:t>
            </a:r>
            <a:r>
              <a:rPr lang="zh-CN" altLang="en-US"/>
              <a:t>，颜色</a:t>
            </a:r>
            <a:r>
              <a:rPr lang="en-US" altLang="zh-CN"/>
              <a:t> per-pixel</a:t>
            </a:r>
            <a:endParaRPr lang="en-US" altLang="zh-CN"/>
          </a:p>
          <a:p>
            <a:r>
              <a:rPr lang="en-US" altLang="zh-CN"/>
              <a:t>	•	</a:t>
            </a:r>
            <a:r>
              <a:rPr lang="zh-CN" altLang="en-US"/>
              <a:t>开销：中等（比</a:t>
            </a:r>
            <a:r>
              <a:rPr lang="en-US" altLang="zh-CN"/>
              <a:t> SSAA </a:t>
            </a:r>
            <a:r>
              <a:rPr lang="zh-CN" altLang="en-US"/>
              <a:t>节省很多）</a:t>
            </a:r>
            <a:endParaRPr lang="zh-CN" altLang="en-US"/>
          </a:p>
          <a:p>
            <a:r>
              <a:rPr lang="en-US" altLang="zh-CN"/>
              <a:t>	•TAA</a:t>
            </a:r>
            <a:endParaRPr lang="en-US" altLang="zh-CN"/>
          </a:p>
          <a:p>
            <a:r>
              <a:rPr lang="en-US" altLang="zh-CN"/>
              <a:t>	•	</a:t>
            </a:r>
            <a:r>
              <a:rPr lang="zh-CN" altLang="en-US"/>
              <a:t>质量：静态图像接近</a:t>
            </a:r>
            <a:r>
              <a:rPr lang="en-US" altLang="zh-CN"/>
              <a:t> SSAA</a:t>
            </a:r>
            <a:r>
              <a:rPr lang="zh-CN" altLang="en-US"/>
              <a:t>，动态视情况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原理：时间上多样本，跨帧累积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优点：在视觉上很平滑，成本低</a:t>
            </a:r>
            <a:endParaRPr lang="zh-CN" altLang="en-US"/>
          </a:p>
          <a:p>
            <a:r>
              <a:rPr lang="en-US" altLang="zh-CN"/>
              <a:t>	•	</a:t>
            </a:r>
            <a:r>
              <a:rPr lang="zh-CN" altLang="en-US"/>
              <a:t>缺点：</a:t>
            </a:r>
            <a:r>
              <a:rPr lang="en-US" altLang="zh-CN"/>
              <a:t>ghosting / </a:t>
            </a:r>
            <a:r>
              <a:rPr lang="zh-CN" altLang="en-US"/>
              <a:t>残影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特别要记：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静态画面：</a:t>
            </a:r>
            <a:r>
              <a:rPr lang="en-US" altLang="zh-CN"/>
              <a:t>TAA ≈ SSAA </a:t>
            </a:r>
            <a:r>
              <a:rPr lang="zh-CN" altLang="en-US"/>
              <a:t>效果，但</a:t>
            </a:r>
            <a:r>
              <a:rPr lang="en-US" altLang="zh-CN"/>
              <a:t> TAA </a:t>
            </a:r>
            <a:r>
              <a:rPr lang="zh-CN" altLang="en-US"/>
              <a:t>快很多。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CD6F512F-B6A8-4FA5-8E84-2726D1ACE5D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aint"/>
          <p:cNvPicPr>
            <a:picLocks noChangeAspect="1" noChangeArrowheads="1"/>
          </p:cNvPicPr>
          <p:nvPr userDrawn="1"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524250"/>
            <a:ext cx="8137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9" descr="UN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5781675"/>
            <a:ext cx="2357437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684213" y="1268413"/>
            <a:ext cx="7772400" cy="1944687"/>
          </a:xfrm>
        </p:spPr>
        <p:txBody>
          <a:bodyPr anchorCtr="1"/>
          <a:lstStyle>
            <a:lvl1pPr>
              <a:lnSpc>
                <a:spcPct val="120000"/>
              </a:lnSpc>
              <a:spcBef>
                <a:spcPct val="20000"/>
              </a:spcBef>
              <a:defRPr sz="4400"/>
            </a:lvl1pPr>
          </a:lstStyle>
          <a:p>
            <a:r>
              <a:rPr lang="en-US" altLang="zh-TW"/>
              <a:t>Click to edit Master title style</a:t>
            </a: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403350" y="3789363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 sz="3200"/>
            </a:lvl1pPr>
          </a:lstStyle>
          <a:p>
            <a:r>
              <a:rPr lang="en-US" altLang="zh-TW"/>
              <a:t>Name and affiliation</a:t>
            </a:r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41C280-9F6C-4BFB-A851-D4766E8106A1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AADA94-1FE0-4265-8F64-35B99BF7AE9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4213" y="1268413"/>
            <a:ext cx="3810000" cy="4951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6613" y="1268413"/>
            <a:ext cx="3810000" cy="49514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CF08A-C486-4200-AAEA-E985D9AC151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A17E5-F900-4289-871C-09171F7C3F3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7C9E2-8237-4B46-9F39-7FFE30978AE5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E0B835-C394-49D1-AE30-06F612AE6C76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CD359-8411-4ABB-B751-7833766877AE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0E6D6-42B6-4065-9734-F6E2374686D2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997E1-42AF-430B-A33E-5276CA050D8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9912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4213" y="228600"/>
            <a:ext cx="5678487" cy="59912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4C3C36-303D-4DAA-9E7B-A33A34E42D37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en-US" altLang="zh-TW"/>
              <a:t>Click to edit Master title style</a:t>
            </a:r>
            <a:endParaRPr lang="en-US" altLang="zh-TW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340475"/>
            <a:ext cx="4038600" cy="30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eaLnBrk="1" hangingPunct="1">
              <a:defRPr sz="1000">
                <a:latin typeface="Arial" panose="020B0604020202090204" pitchFamily="34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8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268413"/>
            <a:ext cx="7772400" cy="495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/>
              <a:t>Click to edit Master text styles</a:t>
            </a:r>
            <a:endParaRPr lang="en-US" altLang="zh-TW"/>
          </a:p>
          <a:p>
            <a:pPr lvl="1"/>
            <a:r>
              <a:rPr lang="en-US" altLang="zh-TW"/>
              <a:t>Second level</a:t>
            </a:r>
            <a:endParaRPr lang="en-US" altLang="zh-TW"/>
          </a:p>
          <a:p>
            <a:pPr lvl="2"/>
            <a:r>
              <a:rPr lang="en-US" altLang="zh-TW"/>
              <a:t>Third level</a:t>
            </a:r>
            <a:endParaRPr lang="en-US" altLang="zh-TW"/>
          </a:p>
        </p:txBody>
      </p:sp>
      <p:sp>
        <p:nvSpPr>
          <p:cNvPr id="205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67600" y="6248400"/>
            <a:ext cx="990600" cy="381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 eaLnBrk="1" hangingPunct="1">
              <a:defRPr sz="1600">
                <a:latin typeface="Times New Roman" panose="02020503050405090304" pitchFamily="18" charset="0"/>
                <a:ea typeface="PMingLiU" pitchFamily="18" charset="-120"/>
              </a:defRPr>
            </a:lvl1pPr>
          </a:lstStyle>
          <a:p>
            <a:pPr>
              <a:defRPr/>
            </a:pPr>
            <a:fld id="{368A4E0A-893F-4F11-A10E-37A3F6517E98}" type="slidenum">
              <a:rPr lang="zh-TW" altLang="en-US"/>
            </a:fld>
            <a:endParaRPr lang="en-US" altLang="zh-TW"/>
          </a:p>
        </p:txBody>
      </p:sp>
      <p:pic>
        <p:nvPicPr>
          <p:cNvPr id="1030" name="Picture 15" descr="paint"/>
          <p:cNvPicPr>
            <a:picLocks noChangeAspect="1" noChangeArrowheads="1"/>
          </p:cNvPicPr>
          <p:nvPr userDrawn="1"/>
        </p:nvPicPr>
        <p:blipFill>
          <a:blip r:embed="rId1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052513"/>
            <a:ext cx="813752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圖片 7" descr="UNlogo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169025"/>
            <a:ext cx="16430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Comic Sans MS" panose="030F0902030302020204" pitchFamily="66" charset="0"/>
          <a:ea typeface="標楷體" panose="02010601000101010101" pitchFamily="65" charset="-12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rgbClr val="0000FF"/>
        </a:buClr>
        <a:buSzPct val="60000"/>
        <a:buFont typeface="Wingdings" panose="05000000000000000000" pitchFamily="2" charset="2"/>
        <a:buChar char="u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rgbClr val="FF9900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ct val="15000"/>
        </a:spcBef>
        <a:spcAft>
          <a:spcPct val="0"/>
        </a:spcAft>
        <a:buClr>
          <a:schemeClr val="tx1"/>
        </a:buClr>
        <a:buFont typeface="Arial" panose="020B0604020202090204" pitchFamily="34" charset="0"/>
        <a:buChar char="‒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Times New Roman" panose="02020503050405090304" pitchFamily="18" charset="0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1071563"/>
            <a:ext cx="7772400" cy="2141537"/>
          </a:xfrm>
        </p:spPr>
        <p:txBody>
          <a:bodyPr/>
          <a:lstStyle/>
          <a:p>
            <a:pPr eaLnBrk="1" hangingPunct="1"/>
            <a:r>
              <a:rPr lang="en-GB" altLang="zh-TW" dirty="0"/>
              <a:t>COMP 3069</a:t>
            </a:r>
            <a:br>
              <a:rPr lang="en-GB" altLang="zh-TW" dirty="0"/>
            </a:br>
            <a:r>
              <a:rPr lang="en-US" altLang="zh-TW" dirty="0"/>
              <a:t>Computer Graphics</a:t>
            </a:r>
            <a:endParaRPr lang="en-US" altLang="zh-TW" dirty="0"/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89363"/>
            <a:ext cx="6400800" cy="24971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>
                <a:latin typeface="+mj-lt"/>
                <a:ea typeface="PMingLiU" pitchFamily="18" charset="-120"/>
              </a:rPr>
              <a:t>Lecture 11: Antialiasing</a:t>
            </a:r>
            <a:endParaRPr lang="en-US" altLang="zh-TW" dirty="0">
              <a:latin typeface="+mj-lt"/>
              <a:ea typeface="PMingLiU" pitchFamily="18" charset="-120"/>
            </a:endParaRPr>
          </a:p>
          <a:p>
            <a:pPr eaLnBrk="1" hangingPunct="1">
              <a:defRPr/>
            </a:pPr>
            <a:endParaRPr lang="en-US" altLang="zh-TW" dirty="0">
              <a:latin typeface="+mj-lt"/>
              <a:ea typeface="PMingLiU" pitchFamily="18" charset="-120"/>
            </a:endParaRPr>
          </a:p>
          <a:p>
            <a:pPr eaLnBrk="1" hangingPunct="1">
              <a:defRPr/>
            </a:pPr>
            <a:r>
              <a:rPr lang="en-US" altLang="zh-TW" dirty="0">
                <a:latin typeface="+mj-lt"/>
                <a:ea typeface="PMingLiU" pitchFamily="18" charset="-120"/>
              </a:rPr>
              <a:t>Autumn 2024</a:t>
            </a:r>
            <a:endParaRPr lang="en-US" altLang="zh-TW" dirty="0">
              <a:latin typeface="+mj-lt"/>
              <a:ea typeface="PMingLiU" pitchFamily="18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投影片編號版面配置區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6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2pPr>
            <a:lvl3pPr>
              <a:defRPr sz="2200">
                <a:solidFill>
                  <a:schemeClr val="tx1"/>
                </a:solidFill>
                <a:latin typeface="Arial" panose="020B0604020202090204" pitchFamily="34" charset="0"/>
                <a:ea typeface="標楷體" panose="02010601000101010101" pitchFamily="65" charset="-120"/>
              </a:defRPr>
            </a:lvl3pPr>
            <a:lvl4pPr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4pPr>
            <a:lvl5pPr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imes New Roman" panose="02020503050405090304" pitchFamily="18" charset="0"/>
                <a:ea typeface="標楷體" panose="02010601000101010101" pitchFamily="65" charset="-120"/>
              </a:defRPr>
            </a:lvl9pPr>
          </a:lstStyle>
          <a:p>
            <a:fld id="{85AB8434-330C-4CCB-8326-9C0410C64C9F}" type="slidenum">
              <a:rPr lang="zh-TW" altLang="en-US" sz="1600" smtClean="0">
                <a:latin typeface="Times New Roman" panose="02020503050405090304" pitchFamily="18" charset="0"/>
                <a:ea typeface="PMingLiU" pitchFamily="18" charset="-120"/>
              </a:rPr>
            </a:fld>
            <a:endParaRPr lang="en-US" altLang="zh-TW" sz="1600">
              <a:latin typeface="Times New Roman" panose="02020503050405090304" pitchFamily="18" charset="0"/>
              <a:ea typeface="PMingLiU" pitchFamily="18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11138"/>
            <a:ext cx="7772400" cy="823912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PMingLiU" pitchFamily="18" charset="-120"/>
              </a:rPr>
              <a:t>Contents</a:t>
            </a:r>
            <a:endParaRPr lang="en-US" altLang="zh-TW" dirty="0">
              <a:ea typeface="PMingLiU" pitchFamily="18" charset="-120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19" y="1340768"/>
            <a:ext cx="8208962" cy="468052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Define aliasing and antialiasing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 err="1">
                <a:latin typeface="+mj-lt"/>
              </a:rPr>
              <a:t>Recognise</a:t>
            </a:r>
            <a:r>
              <a:rPr lang="en-US" altLang="zh-TW" sz="2800" dirty="0">
                <a:latin typeface="+mj-lt"/>
              </a:rPr>
              <a:t> the manifestation of aliasing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Describe </a:t>
            </a:r>
            <a:r>
              <a:rPr lang="en-US" altLang="zh-TW" sz="2800" dirty="0" err="1">
                <a:latin typeface="+mj-lt"/>
              </a:rPr>
              <a:t>Supersampling</a:t>
            </a:r>
            <a:r>
              <a:rPr lang="en-US" altLang="zh-TW" sz="2800" dirty="0">
                <a:latin typeface="+mj-lt"/>
              </a:rPr>
              <a:t>, Multisampling, and Temporal antialiasing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 err="1">
                <a:latin typeface="+mj-lt"/>
              </a:rPr>
              <a:t>Recognise</a:t>
            </a:r>
            <a:r>
              <a:rPr lang="en-US" altLang="zh-TW" sz="2800" dirty="0">
                <a:latin typeface="+mj-lt"/>
              </a:rPr>
              <a:t> the smoothing effect of antialiasing which removes ‘jaggies’.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Explain the difference between 2x and 4x antialiasing</a:t>
            </a:r>
            <a:endParaRPr lang="en-US" altLang="zh-TW" sz="2800" dirty="0">
              <a:latin typeface="+mj-lt"/>
            </a:endParaRPr>
          </a:p>
          <a:p>
            <a:pPr eaLnBrk="1" hangingPunct="1"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TW" sz="2800" dirty="0">
                <a:latin typeface="+mj-lt"/>
              </a:rPr>
              <a:t>Compare the time requirements of the antialiasing algorithms</a:t>
            </a:r>
            <a:endParaRPr lang="en-US" altLang="zh-TW" sz="2800" dirty="0">
              <a:latin typeface="+mj-lt"/>
            </a:endParaRP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en-US" altLang="zh-TW" sz="2800" dirty="0">
              <a:latin typeface="+mj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Aliasing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268413"/>
            <a:ext cx="7772400" cy="4464843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Rendering essentially boils down to sampling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Each pixel needs to be sampled to decide the </a:t>
            </a:r>
            <a:r>
              <a:rPr lang="en-US" dirty="0" err="1"/>
              <a:t>colour</a:t>
            </a:r>
            <a:r>
              <a:rPr lang="en-US" dirty="0"/>
              <a:t> that it should be displayed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sampling involves calculations in a 3-dimensional space 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Aliasing is an undesirable effect of the frequency chosen to take samples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Aliasing happens when samples are taken at a frequency which is too 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The image shows an array of </a:t>
            </a:r>
            <a:r>
              <a:rPr lang="en-US" dirty="0">
                <a:latin typeface="Courier New" panose="02070409020205090404" pitchFamily="49" charset="0"/>
                <a:cs typeface="Courier New" panose="02070409020205090404" pitchFamily="49" charset="0"/>
              </a:rPr>
              <a:t>15 x 16 </a:t>
            </a: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pixels with a red sample point at the </a:t>
            </a:r>
            <a:r>
              <a:rPr lang="en-US" dirty="0" err="1">
                <a:latin typeface="Arial" panose="020B0604020202090204" pitchFamily="34" charset="0"/>
                <a:cs typeface="Arial" panose="020B0604020202090204" pitchFamily="34" charset="0"/>
              </a:rPr>
              <a:t>centre</a:t>
            </a:r>
            <a:r>
              <a:rPr lang="en-US" dirty="0">
                <a:latin typeface="Arial" panose="020B0604020202090204" pitchFamily="34" charset="0"/>
                <a:cs typeface="Arial" panose="020B0604020202090204" pitchFamily="34" charset="0"/>
              </a:rPr>
              <a:t> of each pixel and a blue triangle</a:t>
            </a:r>
            <a:endParaRPr 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209" y="2481131"/>
            <a:ext cx="3672408" cy="37672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Colouring</a:t>
            </a:r>
            <a:r>
              <a:rPr lang="en-US" dirty="0"/>
              <a:t> a Triangle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/>
              <a:t>If the samples are taken only at the pixel </a:t>
            </a:r>
            <a:r>
              <a:rPr lang="en-US" sz="2800" dirty="0" err="1"/>
              <a:t>centre</a:t>
            </a:r>
            <a:r>
              <a:rPr lang="en-US" sz="2800" dirty="0"/>
              <a:t> points, then the resulting </a:t>
            </a:r>
            <a:r>
              <a:rPr lang="en-US" sz="2800" dirty="0" err="1"/>
              <a:t>colours</a:t>
            </a:r>
            <a:r>
              <a:rPr lang="en-US" sz="2800" dirty="0"/>
              <a:t> will be as shown</a:t>
            </a:r>
            <a:endParaRPr lang="en-US" sz="2800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dirty="0"/>
              <a:t>	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6130" y="2483391"/>
            <a:ext cx="3991739" cy="41460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Jaggies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90401"/>
            <a:ext cx="8424936" cy="473088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aliasing is often called “jaggies”, and they can be seen along the edges of the polygons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640" y="2247342"/>
            <a:ext cx="6763694" cy="40010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Supersampling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185" y="1296988"/>
            <a:ext cx="7772400" cy="4951412"/>
          </a:xfrm>
        </p:spPr>
        <p:txBody>
          <a:bodyPr/>
          <a:lstStyle/>
          <a:p>
            <a:r>
              <a:rPr lang="en-US" dirty="0" err="1"/>
              <a:t>Supersampling</a:t>
            </a:r>
            <a:r>
              <a:rPr lang="en-US" dirty="0"/>
              <a:t>, also called </a:t>
            </a:r>
            <a:r>
              <a:rPr lang="en-US" dirty="0" err="1"/>
              <a:t>Supersampling</a:t>
            </a:r>
            <a:r>
              <a:rPr lang="en-US" dirty="0"/>
              <a:t> Antialiasing SSAA</a:t>
            </a:r>
            <a:endParaRPr lang="en-US" dirty="0"/>
          </a:p>
          <a:p>
            <a:r>
              <a:rPr lang="en-US" dirty="0"/>
              <a:t>SSAA can be modified by the number of samples taken in each dimension for one pixel</a:t>
            </a:r>
            <a:endParaRPr lang="en-US" dirty="0"/>
          </a:p>
          <a:p>
            <a:r>
              <a:rPr lang="en-US" dirty="0"/>
              <a:t>If the display resolution is </a:t>
            </a:r>
            <a:r>
              <a:rPr lang="en-US" dirty="0">
                <a:latin typeface="Courier New" panose="02070409020205090404" pitchFamily="49" charset="0"/>
                <a:cs typeface="Courier New" panose="02070409020205090404" pitchFamily="49" charset="0"/>
              </a:rPr>
              <a:t>600 x 400 </a:t>
            </a:r>
            <a:r>
              <a:rPr lang="en-US" dirty="0"/>
              <a:t>pixels, </a:t>
            </a:r>
            <a:r>
              <a:rPr lang="en-US" dirty="0">
                <a:latin typeface="Courier New" panose="02070409020205090404" pitchFamily="49" charset="0"/>
                <a:cs typeface="Courier New" panose="02070409020205090404" pitchFamily="49" charset="0"/>
              </a:rPr>
              <a:t>2x</a:t>
            </a:r>
            <a:r>
              <a:rPr lang="en-US" dirty="0"/>
              <a:t> SSAA works by generating twice as many fragments in the x and y screen dimensions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colour</a:t>
            </a:r>
            <a:r>
              <a:rPr lang="en-US" dirty="0"/>
              <a:t> of each pixel is the average </a:t>
            </a:r>
            <a:r>
              <a:rPr lang="en-US" dirty="0" err="1"/>
              <a:t>colour</a:t>
            </a:r>
            <a:r>
              <a:rPr lang="en-US" dirty="0"/>
              <a:t> of the </a:t>
            </a:r>
            <a:r>
              <a:rPr lang="en-US" dirty="0">
                <a:latin typeface="Courier New" panose="02070409020205090404" pitchFamily="49" charset="0"/>
                <a:cs typeface="Courier New" panose="02070409020205090404" pitchFamily="49" charset="0"/>
              </a:rPr>
              <a:t>2 x 2 </a:t>
            </a:r>
            <a:r>
              <a:rPr lang="en-US" dirty="0"/>
              <a:t>samples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Pixels &amp; Samples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08975"/>
            <a:ext cx="7772400" cy="4951412"/>
          </a:xfrm>
        </p:spPr>
        <p:txBody>
          <a:bodyPr/>
          <a:lstStyle/>
          <a:p>
            <a:r>
              <a:rPr lang="en-US" dirty="0"/>
              <a:t>In this figure, 4 pixels can be seen with the </a:t>
            </a:r>
            <a:r>
              <a:rPr lang="en-US" dirty="0" err="1"/>
              <a:t>centre</a:t>
            </a:r>
            <a:r>
              <a:rPr lang="en-US" dirty="0"/>
              <a:t> points in red</a:t>
            </a:r>
            <a:endParaRPr lang="en-US" dirty="0"/>
          </a:p>
          <a:p>
            <a:r>
              <a:rPr lang="en-US" dirty="0"/>
              <a:t>Each pixel has 4 samples taken using the fragment shader as shown by the points in yellow </a:t>
            </a:r>
            <a:endParaRPr lang="en-US" dirty="0"/>
          </a:p>
          <a:p>
            <a:endParaRPr lang="en-US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792" y="2969568"/>
            <a:ext cx="3512939" cy="3888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Pixel </a:t>
            </a:r>
            <a:r>
              <a:rPr lang="en-US" dirty="0" err="1"/>
              <a:t>Colour</a:t>
            </a:r>
            <a:r>
              <a:rPr lang="en-US" dirty="0"/>
              <a:t> Using </a:t>
            </a:r>
            <a:r>
              <a:rPr lang="en-US" dirty="0" err="1"/>
              <a:t>Supersampling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185" y="1296988"/>
            <a:ext cx="7772400" cy="4951412"/>
          </a:xfrm>
        </p:spPr>
        <p:txBody>
          <a:bodyPr/>
          <a:lstStyle/>
          <a:p>
            <a:r>
              <a:rPr lang="en-US" dirty="0"/>
              <a:t>Each pixel </a:t>
            </a:r>
            <a:r>
              <a:rPr lang="en-US" dirty="0" err="1"/>
              <a:t>colour</a:t>
            </a:r>
            <a:r>
              <a:rPr lang="en-US" dirty="0"/>
              <a:t> is then calculated as the average of the 4 samples for that pixel</a:t>
            </a:r>
            <a:endParaRPr lang="en-US" dirty="0"/>
          </a:p>
          <a:p>
            <a:r>
              <a:rPr lang="en-US" dirty="0"/>
              <a:t>In SSAA, the fragment shader is called one time for each sample that is inside the triangle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816" y="2849657"/>
            <a:ext cx="3635060" cy="4008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Supersampled</a:t>
            </a:r>
            <a:r>
              <a:rPr lang="en-US" dirty="0"/>
              <a:t> Image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resulting render which has been </a:t>
            </a:r>
            <a:r>
              <a:rPr lang="en-US" dirty="0" err="1"/>
              <a:t>Supersampled</a:t>
            </a:r>
            <a:r>
              <a:rPr lang="en-US" dirty="0"/>
              <a:t> is much smoother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112" y="2348880"/>
            <a:ext cx="6541788" cy="37947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Multisampling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Multisampling, known as Multisampling Antialiasing MSAA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 MSAA, the fragment shader is only called one time for each pixel that is inside the triangle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8409" y="3573016"/>
            <a:ext cx="6824008" cy="2276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</a:t>
            </a:r>
            <a:r>
              <a:rPr lang="en-US" dirty="0" err="1"/>
              <a:t>Colour</a:t>
            </a:r>
            <a:r>
              <a:rPr lang="en-US" dirty="0"/>
              <a:t> to Other Pixels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</a:t>
            </a:r>
            <a:r>
              <a:rPr lang="en-US" dirty="0" err="1"/>
              <a:t>colour</a:t>
            </a:r>
            <a:r>
              <a:rPr lang="en-US" dirty="0"/>
              <a:t> is copied to the sample points that are inside the triangle</a:t>
            </a:r>
            <a:endParaRPr lang="en-US" dirty="0"/>
          </a:p>
          <a:p>
            <a:pPr marL="0" indent="0">
              <a:buNone/>
            </a:pPr>
            <a:endParaRPr lang="en-AU" dirty="0">
              <a:latin typeface="Courier New" panose="02070409020205090404" pitchFamily="49" charset="0"/>
              <a:cs typeface="Courier New" panose="020704090202050904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209" y="2276872"/>
            <a:ext cx="8244408" cy="34047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Pixel Colour Using Multisampling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pixel </a:t>
            </a:r>
            <a:r>
              <a:rPr lang="en-US" dirty="0" err="1"/>
              <a:t>colours</a:t>
            </a:r>
            <a:r>
              <a:rPr lang="en-US" dirty="0"/>
              <a:t> are then the average of the 4 samples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752" y="1988840"/>
            <a:ext cx="3962953" cy="434400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26218"/>
            <a:ext cx="7772400" cy="823913"/>
          </a:xfrm>
        </p:spPr>
        <p:txBody>
          <a:bodyPr/>
          <a:lstStyle/>
          <a:p>
            <a:r>
              <a:rPr lang="en-US" altLang="zh-CN" sz="3200" dirty="0"/>
              <a:t>Temporal Antialiasing </a:t>
            </a:r>
            <a:endParaRPr lang="en-AU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285900"/>
            <a:ext cx="7772400" cy="4951412"/>
          </a:xfrm>
        </p:spPr>
        <p:txBody>
          <a:bodyPr/>
          <a:lstStyle/>
          <a:p>
            <a:r>
              <a:rPr lang="en-US" altLang="zh-CN" sz="2400" dirty="0"/>
              <a:t>Temporal Antialiasing TAA is another antialiasing algorithm</a:t>
            </a:r>
            <a:endParaRPr lang="en-US" altLang="zh-CN" sz="2400" dirty="0"/>
          </a:p>
          <a:p>
            <a:r>
              <a:rPr lang="en-US" altLang="zh-CN" sz="2400" dirty="0"/>
              <a:t>TAA works in much the same way as SSAA </a:t>
            </a:r>
            <a:endParaRPr lang="en-US" altLang="zh-CN" sz="2400" dirty="0"/>
          </a:p>
          <a:p>
            <a:r>
              <a:rPr lang="en-US" dirty="0"/>
              <a:t>The difference is that, with TAA, the 4 samples for each pixel are not generated from a single frame by the </a:t>
            </a:r>
            <a:r>
              <a:rPr lang="en-US"/>
              <a:t>fragment shader</a:t>
            </a:r>
            <a:endParaRPr lang="en-US" dirty="0"/>
          </a:p>
          <a:p>
            <a:r>
              <a:rPr lang="en-US" dirty="0"/>
              <a:t>Instead, the TAA algorithm takes one sample per frame, and therefore requires four frames (or time points) to take the four samples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TAA Sampling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The number of samples in the x and y screen dimensions is 1 per pixel per frame,</a:t>
            </a:r>
            <a:endParaRPr lang="en-US" sz="20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TAA has the antialiasing effect of SSAA but without the large time requirement</a:t>
            </a:r>
            <a:endParaRPr lang="en-A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60" y="2852936"/>
            <a:ext cx="7772400" cy="29273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Downside of TAA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ghost artifacts if the image moves fast.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1919827"/>
            <a:ext cx="7906853" cy="36485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823913"/>
          </a:xfrm>
        </p:spPr>
        <p:txBody>
          <a:bodyPr/>
          <a:lstStyle/>
          <a:p>
            <a:r>
              <a:rPr lang="en-US" dirty="0"/>
              <a:t>Comparison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static image is rendered then the effect of TAA is the same as SSAA, but TAA is much faster</a:t>
            </a:r>
            <a:endParaRPr lang="en-AU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111" y="2564904"/>
            <a:ext cx="7772400" cy="293897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i="1" dirty="0"/>
              <a:t>COMP3069 Lecture notes: </a:t>
            </a:r>
            <a:r>
              <a:rPr lang="en-US" sz="3200" b="1" dirty="0"/>
              <a:t>Chapter 11</a:t>
            </a:r>
            <a:endParaRPr lang="en-US" sz="3200" dirty="0"/>
          </a:p>
          <a:p>
            <a:r>
              <a:rPr lang="en-US" sz="3200" i="1" dirty="0"/>
              <a:t>Interactive Computer Graphics: A Top-Down Approach with Shader-Based OpenGL</a:t>
            </a:r>
            <a:r>
              <a:rPr lang="en-US" sz="3200" dirty="0"/>
              <a:t>, </a:t>
            </a:r>
            <a:r>
              <a:rPr lang="en-US" sz="3200" b="1" dirty="0"/>
              <a:t>Chapter 7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141C280-9F6C-4BFB-A851-D4766E8106A1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00"/>
      </a:dk2>
      <a:lt2>
        <a:srgbClr val="CCECFF"/>
      </a:lt2>
      <a:accent1>
        <a:srgbClr val="6699FF"/>
      </a:accent1>
      <a:accent2>
        <a:srgbClr val="66CCFF"/>
      </a:accent2>
      <a:accent3>
        <a:srgbClr val="FFFFFF"/>
      </a:accent3>
      <a:accent4>
        <a:srgbClr val="000000"/>
      </a:accent4>
      <a:accent5>
        <a:srgbClr val="B8CAFF"/>
      </a:accent5>
      <a:accent6>
        <a:srgbClr val="5CB9E7"/>
      </a:accent6>
      <a:hlink>
        <a:srgbClr val="CC99FF"/>
      </a:hlink>
      <a:folHlink>
        <a:srgbClr val="00CCCC"/>
      </a:folHlink>
    </a:clrScheme>
    <a:fontScheme name="Soaring">
      <a:majorFont>
        <a:latin typeface="Comic Sans MS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137160" rIns="91440" bIns="13716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137160" rIns="91440" bIns="13716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D:\ProgramFiles2000\Microsoft Office\Templates\Presentation Designs\Soaring.pot</Template>
  <TotalTime>0</TotalTime>
  <Words>3097</Words>
  <Application>WPS 演示</Application>
  <PresentationFormat>On-screen Show (4:3)</PresentationFormat>
  <Paragraphs>134</Paragraphs>
  <Slides>18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Arial</vt:lpstr>
      <vt:lpstr>宋体</vt:lpstr>
      <vt:lpstr>Wingdings</vt:lpstr>
      <vt:lpstr>標楷體</vt:lpstr>
      <vt:lpstr>PMingLiU</vt:lpstr>
      <vt:lpstr>宋体-繁</vt:lpstr>
      <vt:lpstr>Times New Roman</vt:lpstr>
      <vt:lpstr>Comic Sans MS</vt:lpstr>
      <vt:lpstr>Courier New</vt:lpstr>
      <vt:lpstr>微软雅黑</vt:lpstr>
      <vt:lpstr>汉仪旗黑</vt:lpstr>
      <vt:lpstr>宋体</vt:lpstr>
      <vt:lpstr>Arial Unicode MS</vt:lpstr>
      <vt:lpstr>汉仪书宋二KW</vt:lpstr>
      <vt:lpstr>PMingLiU</vt:lpstr>
      <vt:lpstr>標楷體</vt:lpstr>
      <vt:lpstr>Calibri</vt:lpstr>
      <vt:lpstr>Helvetica Neue</vt:lpstr>
      <vt:lpstr>Soaring</vt:lpstr>
      <vt:lpstr>COMP 3069 Computer Graphics</vt:lpstr>
      <vt:lpstr>Contents</vt:lpstr>
      <vt:lpstr>Aliasing</vt:lpstr>
      <vt:lpstr>An Example</vt:lpstr>
      <vt:lpstr>Colouring a Triangle</vt:lpstr>
      <vt:lpstr>Jaggies</vt:lpstr>
      <vt:lpstr>Supersampling</vt:lpstr>
      <vt:lpstr>Pixels &amp; Samples</vt:lpstr>
      <vt:lpstr>Pixel Colour Using Supersampling</vt:lpstr>
      <vt:lpstr>Supersampled Image</vt:lpstr>
      <vt:lpstr>Multisampling </vt:lpstr>
      <vt:lpstr>Copy Colour to Other Pixels</vt:lpstr>
      <vt:lpstr>Pixel Colour Using Multisampling</vt:lpstr>
      <vt:lpstr>Temporal Antialiasing </vt:lpstr>
      <vt:lpstr>TAA Sampling </vt:lpstr>
      <vt:lpstr>Downside of TAA</vt:lpstr>
      <vt:lpstr>Comparison </vt:lpstr>
      <vt:lpstr>References</vt:lpstr>
    </vt:vector>
  </TitlesOfParts>
  <Company>Prentice-Hall Publishing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Kip Irvine</dc:creator>
  <dc:subject>Basic Concepts</dc:subject>
  <cp:lastModifiedBy>.张鱼洋</cp:lastModifiedBy>
  <cp:revision>1333</cp:revision>
  <cp:lastPrinted>2025-12-05T05:31:44Z</cp:lastPrinted>
  <dcterms:created xsi:type="dcterms:W3CDTF">2025-12-05T05:31:44Z</dcterms:created>
  <dcterms:modified xsi:type="dcterms:W3CDTF">2025-12-05T05:31:44Z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7D2F3B88B4D54853936932697EB7BB1E_42</vt:lpwstr>
  </property>
  <property fmtid="{D5CDD505-2E9C-101B-9397-08002B2CF9AE}" pid="3" name="KSOProductBuildVer">
    <vt:lpwstr>2052-12.1.23540.23540</vt:lpwstr>
  </property>
</Properties>
</file>