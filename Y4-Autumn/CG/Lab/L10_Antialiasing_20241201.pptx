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9" r:id="rId1"/>
  </p:sldMasterIdLst>
  <p:notesMasterIdLst>
    <p:notesMasterId r:id="rId18"/>
  </p:notesMasterIdLst>
  <p:handoutMasterIdLst>
    <p:handoutMasterId r:id="rId19"/>
  </p:handoutMasterIdLst>
  <p:sldIdLst>
    <p:sldId id="454" r:id="rId2"/>
    <p:sldId id="456" r:id="rId3"/>
    <p:sldId id="627" r:id="rId4"/>
    <p:sldId id="609" r:id="rId5"/>
    <p:sldId id="684" r:id="rId6"/>
    <p:sldId id="666" r:id="rId7"/>
    <p:sldId id="667" r:id="rId8"/>
    <p:sldId id="678" r:id="rId9"/>
    <p:sldId id="669" r:id="rId10"/>
    <p:sldId id="668" r:id="rId11"/>
    <p:sldId id="679" r:id="rId12"/>
    <p:sldId id="671" r:id="rId13"/>
    <p:sldId id="685" r:id="rId14"/>
    <p:sldId id="686" r:id="rId15"/>
    <p:sldId id="687" r:id="rId16"/>
    <p:sldId id="608" r:id="rId17"/>
  </p:sldIdLst>
  <p:sldSz cx="9144000" cy="6858000" type="screen4x3"/>
  <p:notesSz cx="6797675" cy="98742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標楷體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標楷體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標楷體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標楷體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標楷體" pitchFamily="65" charset="-120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Arial" charset="0"/>
        <a:ea typeface="標楷體" pitchFamily="65" charset="-120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Arial" charset="0"/>
        <a:ea typeface="標楷體" pitchFamily="65" charset="-120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Arial" charset="0"/>
        <a:ea typeface="標楷體" pitchFamily="65" charset="-120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Arial" charset="0"/>
        <a:ea typeface="標楷體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gray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90000"/>
    <a:srgbClr val="FF9900"/>
    <a:srgbClr val="FFFF00"/>
    <a:srgbClr val="8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3" autoAdjust="0"/>
    <p:restoredTop sz="84873" autoAdjust="0"/>
  </p:normalViewPr>
  <p:slideViewPr>
    <p:cSldViewPr>
      <p:cViewPr varScale="1">
        <p:scale>
          <a:sx n="82" d="100"/>
          <a:sy n="82" d="100"/>
        </p:scale>
        <p:origin x="1299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6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9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25" tIns="45511" rIns="91025" bIns="45511" numCol="1" anchor="t" anchorCtr="0" compatLnSpc="1">
            <a:prstTxWarp prst="textNoShape">
              <a:avLst/>
            </a:prstTxWarp>
          </a:bodyPr>
          <a:lstStyle>
            <a:lvl1pPr defTabSz="910378" eaLnBrk="1" hangingPunct="1">
              <a:defRPr sz="13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7987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25" tIns="45511" rIns="91025" bIns="45511" numCol="1" anchor="t" anchorCtr="0" compatLnSpc="1">
            <a:prstTxWarp prst="textNoShape">
              <a:avLst/>
            </a:prstTxWarp>
          </a:bodyPr>
          <a:lstStyle>
            <a:lvl1pPr algn="r" defTabSz="910378" eaLnBrk="1" hangingPunct="1">
              <a:defRPr sz="13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0538"/>
            <a:ext cx="2947988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25" tIns="45511" rIns="91025" bIns="45511" numCol="1" anchor="b" anchorCtr="0" compatLnSpc="1">
            <a:prstTxWarp prst="textNoShape">
              <a:avLst/>
            </a:prstTxWarp>
          </a:bodyPr>
          <a:lstStyle>
            <a:lvl1pPr defTabSz="910378" eaLnBrk="1" hangingPunct="1">
              <a:defRPr sz="13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80538"/>
            <a:ext cx="2947987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25" tIns="45511" rIns="91025" bIns="45511" numCol="1" anchor="b" anchorCtr="0" compatLnSpc="1">
            <a:prstTxWarp prst="textNoShape">
              <a:avLst/>
            </a:prstTxWarp>
          </a:bodyPr>
          <a:lstStyle>
            <a:lvl1pPr algn="r" defTabSz="909638" eaLnBrk="1" hangingPunct="1">
              <a:defRPr sz="13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fld id="{323F30EB-D372-47D3-97CE-C64850C198A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78079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9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25" tIns="45511" rIns="91025" bIns="45511" numCol="1" anchor="t" anchorCtr="0" compatLnSpc="1">
            <a:prstTxWarp prst="textNoShape">
              <a:avLst/>
            </a:prstTxWarp>
          </a:bodyPr>
          <a:lstStyle>
            <a:lvl1pPr defTabSz="910378" eaLnBrk="1" hangingPunct="1"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7987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25" tIns="45511" rIns="91025" bIns="45511" numCol="1" anchor="t" anchorCtr="0" compatLnSpc="1">
            <a:prstTxWarp prst="textNoShape">
              <a:avLst/>
            </a:prstTxWarp>
          </a:bodyPr>
          <a:lstStyle>
            <a:lvl1pPr algn="r" defTabSz="910378" eaLnBrk="1" hangingPunct="1"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3450" y="741363"/>
            <a:ext cx="4933950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689475"/>
            <a:ext cx="4981575" cy="444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25" tIns="45511" rIns="91025" bIns="455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0538"/>
            <a:ext cx="2947988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25" tIns="45511" rIns="91025" bIns="45511" numCol="1" anchor="b" anchorCtr="0" compatLnSpc="1">
            <a:prstTxWarp prst="textNoShape">
              <a:avLst/>
            </a:prstTxWarp>
          </a:bodyPr>
          <a:lstStyle>
            <a:lvl1pPr defTabSz="910378" eaLnBrk="1" hangingPunct="1"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80538"/>
            <a:ext cx="2947987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25" tIns="45511" rIns="91025" bIns="45511" numCol="1" anchor="b" anchorCtr="0" compatLnSpc="1">
            <a:prstTxWarp prst="textNoShape">
              <a:avLst/>
            </a:prstTxWarp>
          </a:bodyPr>
          <a:lstStyle>
            <a:lvl1pPr algn="r" defTabSz="909638" eaLnBrk="1" hangingPunct="1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CD6F512F-B6A8-4FA5-8E84-2726D1ACE5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494760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018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9638"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defTabSz="909638"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defTabSz="909638"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defTabSz="909638"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defTabSz="909638"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fld id="{19F8EF67-40F2-4D7D-8523-22F5CE34D99B}" type="slidenum">
              <a:rPr lang="zh-TW" altLang="en-US" sz="1300" smtClean="0">
                <a:ea typeface="新細明體" charset="-120"/>
              </a:rPr>
              <a:pPr/>
              <a:t>0</a:t>
            </a:fld>
            <a:endParaRPr lang="en-US" altLang="zh-TW" sz="1300">
              <a:ea typeface="新細明體" charset="-12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9638"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defTabSz="909638"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defTabSz="909638"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defTabSz="909638"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defTabSz="909638"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fld id="{2734A843-EC79-424C-82E3-F5861C5FF254}" type="slidenum">
              <a:rPr lang="zh-TW" altLang="en-US" sz="1300" smtClean="0">
                <a:ea typeface="新細明體" charset="-120"/>
              </a:rPr>
              <a:pPr/>
              <a:t>1</a:t>
            </a:fld>
            <a:endParaRPr lang="en-US" altLang="zh-TW" sz="1300">
              <a:ea typeface="新細明體" charset="-12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6788" y="642938"/>
            <a:ext cx="4889500" cy="3668712"/>
          </a:xfrm>
          <a:ln w="12700" cap="flat">
            <a:solidFill>
              <a:schemeClr val="tx1"/>
            </a:solidFill>
            <a:prstDash val="sysDot"/>
          </a:ln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4689475"/>
            <a:ext cx="5854700" cy="44434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471" tIns="46737" rIns="93471" bIns="46737"/>
          <a:lstStyle/>
          <a:p>
            <a:pPr algn="just"/>
            <a:endParaRPr lang="zh-TW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6F512F-B6A8-4FA5-8E84-2726D1ACE5DC}" type="slidenum">
              <a:rPr lang="zh-TW" altLang="en-US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90020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paint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524250"/>
            <a:ext cx="8137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9" descr="UN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5781675"/>
            <a:ext cx="2357437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684213" y="1268413"/>
            <a:ext cx="7772400" cy="1944687"/>
          </a:xfrm>
        </p:spPr>
        <p:txBody>
          <a:bodyPr anchorCtr="1"/>
          <a:lstStyle>
            <a:lvl1pPr>
              <a:lnSpc>
                <a:spcPct val="120000"/>
              </a:lnSpc>
              <a:spcBef>
                <a:spcPct val="20000"/>
              </a:spcBef>
              <a:defRPr sz="4400"/>
            </a:lvl1pPr>
          </a:lstStyle>
          <a:p>
            <a:r>
              <a:rPr lang="en-US" altLang="zh-TW"/>
              <a:t>Click to edit Master title style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03350" y="3789363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 sz="3200"/>
            </a:lvl1pPr>
          </a:lstStyle>
          <a:p>
            <a:r>
              <a:rPr lang="en-US" altLang="zh-TW"/>
              <a:t>Name and affiliation</a:t>
            </a:r>
          </a:p>
        </p:txBody>
      </p:sp>
    </p:spTree>
    <p:extLst>
      <p:ext uri="{BB962C8B-B14F-4D97-AF65-F5344CB8AC3E}">
        <p14:creationId xmlns:p14="http://schemas.microsoft.com/office/powerpoint/2010/main" val="3090107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41C280-9F6C-4BFB-A851-D4766E8106A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95015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AADA94-1FE0-4265-8F64-35B99BF7AE9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84140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4213" y="1268413"/>
            <a:ext cx="3810000" cy="4951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6613" y="1268413"/>
            <a:ext cx="3810000" cy="4951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6CF08A-C486-4200-AAEA-E985D9AC151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6666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A17E5-F900-4289-871C-09171F7C3F3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9205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7C9E2-8237-4B46-9F39-7FFE30978AE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1048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0B835-C394-49D1-AE30-06F612AE6C7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236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CD359-8411-4ABB-B751-7833766877A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34160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F0E6D6-42B6-4065-9734-F6E2374686D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574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D997E1-42AF-430B-A33E-5276CA050D8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4151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9912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4213" y="228600"/>
            <a:ext cx="5678487" cy="59912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4C3C36-303D-4DAA-9E7B-A33A34E42D3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65707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340475"/>
            <a:ext cx="403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8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268413"/>
            <a:ext cx="7772400" cy="495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67600" y="6248400"/>
            <a:ext cx="990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fld id="{368A4E0A-893F-4F11-A10E-37A3F6517E9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030" name="Picture 15" descr="paint"/>
          <p:cNvPicPr>
            <a:picLocks noChangeAspect="1" noChangeArrowheads="1"/>
          </p:cNvPicPr>
          <p:nvPr userDrawn="1"/>
        </p:nvPicPr>
        <p:blipFill>
          <a:blip r:embed="rId13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052513"/>
            <a:ext cx="8137525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圖片 7" descr="UNlogo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6169025"/>
            <a:ext cx="1643063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2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Comic Sans MS" pitchFamily="66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Comic Sans MS" pitchFamily="66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Comic Sans MS" pitchFamily="66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Comic Sans MS" pitchFamily="66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Comic Sans MS" pitchFamily="66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Comic Sans MS" pitchFamily="66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Comic Sans MS" pitchFamily="66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Comic Sans MS" pitchFamily="66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15000"/>
        </a:spcBef>
        <a:spcAft>
          <a:spcPct val="0"/>
        </a:spcAft>
        <a:buClr>
          <a:srgbClr val="0000FF"/>
        </a:buClr>
        <a:buSzPct val="60000"/>
        <a:buFont typeface="Wingdings" pitchFamily="2" charset="2"/>
        <a:buChar char="u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90000"/>
        </a:lnSpc>
        <a:spcBef>
          <a:spcPct val="15000"/>
        </a:spcBef>
        <a:spcAft>
          <a:spcPct val="0"/>
        </a:spcAft>
        <a:buClr>
          <a:srgbClr val="FF9900"/>
        </a:buClr>
        <a:buSzPct val="70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ct val="15000"/>
        </a:spcBef>
        <a:spcAft>
          <a:spcPct val="0"/>
        </a:spcAft>
        <a:buClr>
          <a:schemeClr val="tx1"/>
        </a:buClr>
        <a:buFont typeface="Arial" charset="0"/>
        <a:buChar char="‒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1071563"/>
            <a:ext cx="7772400" cy="2141537"/>
          </a:xfrm>
        </p:spPr>
        <p:txBody>
          <a:bodyPr/>
          <a:lstStyle/>
          <a:p>
            <a:pPr eaLnBrk="1" hangingPunct="1"/>
            <a:r>
              <a:rPr lang="en-GB" altLang="zh-TW" dirty="0"/>
              <a:t>COMP 3069</a:t>
            </a:r>
            <a:br>
              <a:rPr lang="en-GB" altLang="zh-TW" dirty="0"/>
            </a:br>
            <a:r>
              <a:rPr lang="en-US" altLang="zh-TW" dirty="0"/>
              <a:t>Computer Graphics</a:t>
            </a:r>
          </a:p>
        </p:txBody>
      </p:sp>
      <p:sp>
        <p:nvSpPr>
          <p:cNvPr id="717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789363"/>
            <a:ext cx="6400800" cy="24971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>
                <a:latin typeface="+mj-lt"/>
                <a:ea typeface="新細明體" pitchFamily="18" charset="-120"/>
              </a:rPr>
              <a:t>Lab 10: Antialiasing</a:t>
            </a:r>
          </a:p>
          <a:p>
            <a:pPr eaLnBrk="1" hangingPunct="1">
              <a:defRPr/>
            </a:pPr>
            <a:endParaRPr lang="en-US" altLang="zh-TW" dirty="0">
              <a:latin typeface="+mj-lt"/>
              <a:ea typeface="新細明體" pitchFamily="18" charset="-120"/>
            </a:endParaRPr>
          </a:p>
          <a:p>
            <a:pPr eaLnBrk="1" hangingPunct="1">
              <a:defRPr/>
            </a:pPr>
            <a:r>
              <a:rPr lang="en-US" altLang="zh-TW">
                <a:latin typeface="+mj-lt"/>
                <a:ea typeface="新細明體" pitchFamily="18" charset="-120"/>
              </a:rPr>
              <a:t>Autumn 2024</a:t>
            </a:r>
            <a:endParaRPr lang="en-US" altLang="zh-TW" dirty="0">
              <a:latin typeface="+mj-lt"/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投影片編號版面配置區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>
              <a:defRPr sz="2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>
              <a:defRPr sz="22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fld id="{85AB8434-330C-4CCB-8326-9C0410C64C9F}" type="slidenum">
              <a:rPr lang="zh-TW" altLang="en-US" sz="1600" smtClean="0">
                <a:latin typeface="Times New Roman" pitchFamily="18" charset="0"/>
                <a:ea typeface="新細明體" charset="-120"/>
              </a:rPr>
              <a:pPr/>
              <a:t>1</a:t>
            </a:fld>
            <a:endParaRPr lang="en-US" altLang="zh-TW" sz="1600">
              <a:latin typeface="Times New Roman" pitchFamily="18" charset="0"/>
              <a:ea typeface="新細明體" charset="-12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11138"/>
            <a:ext cx="7772400" cy="823912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 charset="-120"/>
              </a:rPr>
              <a:t>Contents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19" y="1268760"/>
            <a:ext cx="8208962" cy="432048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2800" dirty="0" err="1">
                <a:latin typeface="+mj-lt"/>
              </a:rPr>
              <a:t>Recognise</a:t>
            </a:r>
            <a:r>
              <a:rPr lang="en-US" altLang="zh-TW" sz="2800" dirty="0">
                <a:latin typeface="+mj-lt"/>
              </a:rPr>
              <a:t> the jaggies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2800" dirty="0">
                <a:latin typeface="+mj-lt"/>
              </a:rPr>
              <a:t>Write simple OpenGL code for querying the supported number of </a:t>
            </a:r>
            <a:r>
              <a:rPr lang="en-US" altLang="zh-TW" sz="2800" dirty="0" err="1">
                <a:latin typeface="+mj-lt"/>
              </a:rPr>
              <a:t>Multisamples</a:t>
            </a:r>
            <a:endParaRPr lang="en-US" altLang="zh-TW" sz="2800" dirty="0">
              <a:latin typeface="+mj-lt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2800" dirty="0">
                <a:latin typeface="+mj-lt"/>
              </a:rPr>
              <a:t>Write simple GLFW code for enabling Multisampling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2800" dirty="0">
                <a:latin typeface="+mj-lt"/>
              </a:rPr>
              <a:t>Experiment with Multisampling by adjusting the number of samples per pixel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2800" dirty="0">
                <a:latin typeface="+mj-lt"/>
              </a:rPr>
              <a:t>Observe the improved smoothing when using more samples per pixel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A8E6-0D78-B1BA-D54E-E59682FD6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Set-up of Lab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291A9-4775-8B55-5CEE-5E14B1D27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Using the instructions in Lab 1, create Lab10 project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Copy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Lab10.cpp</a:t>
            </a:r>
            <a:r>
              <a:rPr lang="en-US" sz="2800" dirty="0"/>
              <a:t> code to the Lab10.cpp in the new project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Copy the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camera.h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ModelViewerCamera.h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shader.h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util.h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dirty="0">
                <a:cs typeface="Courier New" panose="02070309020205020404" pitchFamily="49" charset="0"/>
              </a:rPr>
              <a:t>and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window.h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/>
              <a:t>and add them to the Header Files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Copy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mvp.vert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cs typeface="Courier New" panose="02070309020205020404" pitchFamily="49" charset="0"/>
              </a:rPr>
              <a:t>and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frag</a:t>
            </a:r>
            <a:r>
              <a:rPr lang="en-US" sz="2800"/>
              <a:t>, </a:t>
            </a:r>
            <a:r>
              <a:rPr lang="en-US" sz="2800" dirty="0"/>
              <a:t>and add them to the Source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35949-D349-97AD-4042-D7C3EB79D6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02363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32CE-76EF-4B16-84F7-E10ADF77E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Display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90C21-5EB3-4FAF-A0FD-07737D4C3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340767"/>
            <a:ext cx="7772400" cy="1008113"/>
          </a:xfrm>
        </p:spPr>
        <p:txBody>
          <a:bodyPr/>
          <a:lstStyle/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EDFE8-1DC5-4270-B528-206C70A0AE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  <a:pPr>
                <a:defRPr/>
              </a:pPr>
              <a:t>3</a:t>
            </a:fld>
            <a:endParaRPr lang="en-US" altLang="zh-TW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0616F4-B87B-42CF-B268-0DDB52536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121" y="1565914"/>
            <a:ext cx="5290583" cy="416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968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0AADE-278F-4903-8D3F-FB38BCAD4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Displays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FCE57-3898-4C6B-ABCA-DF3088D2E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rotate the camera using the arrow keys, and modify the distance using F and R keys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DB4DE-245D-431C-8EED-862C64E752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  <a:pPr>
                <a:defRPr/>
              </a:pPr>
              <a:t>4</a:t>
            </a:fld>
            <a:endParaRPr lang="en-US" altLang="zh-TW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CDB5A-F1D9-47C7-82FB-F49B2A3DA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17" y="2325515"/>
            <a:ext cx="4064596" cy="32640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06CC0D-37FC-4DC3-ACF2-679F7A24B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423" y="2342651"/>
            <a:ext cx="4152936" cy="324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4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7A025-DB88-3CF5-AB4E-35B008778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Vertex Attributes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E707B-A58F-097E-21ED-1347255FC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4" y="1268413"/>
            <a:ext cx="9144370" cy="1800547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3BED5-0C9E-BE3A-32C8-69AFE7F6D1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  <a:pPr>
                <a:defRPr/>
              </a:pPr>
              <a:t>5</a:t>
            </a:fld>
            <a:endParaRPr lang="en-US" altLang="zh-TW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8E8E0-7AC6-47E9-A95F-AB181F03D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1300560"/>
            <a:ext cx="4968551" cy="521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58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8281-94F8-9B05-58EB-16AE548B9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Jaggies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E95C7-6D1F-E87F-0D70-C00503009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Initialise</a:t>
            </a:r>
            <a:r>
              <a:rPr lang="en-US" dirty="0"/>
              <a:t> the camera pitch and yaw</a:t>
            </a:r>
          </a:p>
          <a:p>
            <a:r>
              <a:rPr lang="en-US" dirty="0"/>
              <a:t>‘jaggies’ are clearly visible 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2528D-C1F2-E205-FAB2-0DB5F864EF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  <a:pPr>
                <a:defRPr/>
              </a:pPr>
              <a:t>6</a:t>
            </a:fld>
            <a:endParaRPr lang="en-US" altLang="zh-TW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EDDB53-A8EA-47CE-8DFD-9EA734B7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68" y="2152977"/>
            <a:ext cx="8141490" cy="15076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56C245-DAD7-4201-B1ED-DE3F3F081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3768611"/>
            <a:ext cx="3795663" cy="29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432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146E-3326-4C01-8E5D-CBD8E6518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OpenGL </a:t>
            </a:r>
            <a:r>
              <a:rPr lang="en-US" dirty="0" err="1"/>
              <a:t>glGetIntegerv</a:t>
            </a:r>
            <a:r>
              <a:rPr lang="en-US" dirty="0"/>
              <a:t>()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58402-1331-4F7C-BD8F-88E24AEB2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	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glGetIntegerv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GLenum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pname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 data) </a:t>
            </a:r>
          </a:p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pname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dirty="0"/>
              <a:t>is the parameter which we want to query, and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sz="3200" dirty="0"/>
              <a:t> stores the value of the parameter</a:t>
            </a:r>
          </a:p>
          <a:p>
            <a:r>
              <a:rPr lang="en-US" sz="3200" dirty="0"/>
              <a:t>We use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GL_MAX_SAMPLES </a:t>
            </a:r>
            <a:r>
              <a:rPr lang="en-US" sz="3200" dirty="0"/>
              <a:t>as 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pname</a:t>
            </a:r>
            <a:r>
              <a:rPr lang="en-US" sz="3200" dirty="0"/>
              <a:t>, which is the maximum supported number of samples for multisampling and is guaranteed to be at least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E6A9B-46CC-4BF5-8B0E-024C4E3881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32042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7A025-DB88-3CF5-AB4E-35B008778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Calling </a:t>
            </a:r>
            <a:r>
              <a:rPr lang="en-AU" dirty="0" err="1"/>
              <a:t>glGetIntegerv</a:t>
            </a:r>
            <a:r>
              <a:rPr lang="en-AU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E707B-A58F-097E-21ED-1347255FC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 the number of supported </a:t>
            </a:r>
            <a:r>
              <a:rPr lang="en-US" dirty="0" err="1"/>
              <a:t>Multisamples</a:t>
            </a:r>
            <a:r>
              <a:rPr lang="en-US" dirty="0"/>
              <a:t>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glGetIntegerv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is called after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window </a:t>
            </a:r>
            <a:r>
              <a:rPr lang="en-US" dirty="0"/>
              <a:t>is created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gladLoadGLLoader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is called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3BED5-0C9E-BE3A-32C8-69AFE7F6D1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  <a:pPr>
                <a:defRPr/>
              </a:pPr>
              <a:t>8</a:t>
            </a:fld>
            <a:endParaRPr lang="en-US" altLang="zh-TW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7D37A8-EB69-4827-A98C-EEEEFABE6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3" y="3284984"/>
            <a:ext cx="7776873" cy="16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987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F8C10-0166-FE90-DF67-3006ACE4D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Results after </a:t>
            </a:r>
            <a:r>
              <a:rPr lang="en-AU" dirty="0" err="1"/>
              <a:t>glGetIntegerv</a:t>
            </a:r>
            <a:r>
              <a:rPr lang="en-AU" dirty="0"/>
              <a:t>()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9D4F14-FCE1-4A66-986A-87997771F3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3799" y="1274045"/>
            <a:ext cx="3054405" cy="11170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48BDC-05FF-0595-E3CC-D7A7EDA263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  <a:pPr>
                <a:defRPr/>
              </a:pPr>
              <a:t>9</a:t>
            </a:fld>
            <a:endParaRPr lang="en-US" altLang="zh-TW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97CFD7-A5A9-4AD4-8E5F-A9FC6AC3F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335" y="2450967"/>
            <a:ext cx="5437265" cy="403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87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4C7F-96E4-4B85-86E2-32174E03F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window.h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A45C2-F195-448A-9007-7F6E739E4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and in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CreateWindow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add a single line of code to enable 2x Multisampling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ACFA4-26AD-461E-8B06-0B1B124FD7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  <a:pPr>
                <a:defRPr/>
              </a:pPr>
              <a:t>10</a:t>
            </a:fld>
            <a:endParaRPr lang="en-US" altLang="zh-TW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FA5257-2A02-48FA-A366-5A88DB1ED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3" y="2888824"/>
            <a:ext cx="7789576" cy="152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59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CBE74-D530-0052-9434-43555093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Results after 2*Multisampling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D5E65-3C0E-01C9-B46B-D6AF05E6E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01039-9359-8670-E87A-1AC7066FEA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  <a:pPr>
                <a:defRPr/>
              </a:pPr>
              <a:t>11</a:t>
            </a:fld>
            <a:endParaRPr lang="en-US" altLang="zh-TW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5376D7-8A7B-439D-B15D-2BD78A8DC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321733"/>
            <a:ext cx="6336704" cy="484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611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CBE74-D530-0052-9434-43555093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Results after 4*Multisampling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D5E65-3C0E-01C9-B46B-D6AF05E6E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01039-9359-8670-E87A-1AC7066FEA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  <a:pPr>
                <a:defRPr/>
              </a:pPr>
              <a:t>12</a:t>
            </a:fld>
            <a:endParaRPr lang="en-US" altLang="zh-TW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BBFA2D-2D7D-4FE4-BCD7-616E18AAC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999" y="1347019"/>
            <a:ext cx="6554827" cy="47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992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CBE74-D530-0052-9434-43555093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Results after 8*Multisampling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D5E65-3C0E-01C9-B46B-D6AF05E6E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01039-9359-8670-E87A-1AC7066FEA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  <a:pPr>
                <a:defRPr/>
              </a:pPr>
              <a:t>13</a:t>
            </a:fld>
            <a:endParaRPr lang="en-US" altLang="zh-TW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70CF0-26E4-457C-8392-36EEB4CC0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073" y="1378011"/>
            <a:ext cx="6120680" cy="482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071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CBE74-D530-0052-9434-43555093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Results after 16*Multisampling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D5E65-3C0E-01C9-B46B-D6AF05E6E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01039-9359-8670-E87A-1AC7066FEA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  <a:pPr>
                <a:defRPr/>
              </a:pPr>
              <a:t>14</a:t>
            </a:fld>
            <a:endParaRPr lang="en-US" altLang="zh-TW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BDC4B1-4646-40B6-B153-EB1061140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738" y="1245550"/>
            <a:ext cx="6073862" cy="457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26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1717-E055-40B5-ACE2-988328F7F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B0031-4A61-428A-AADC-12CF79BF1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i="1" dirty="0"/>
              <a:t>COMP3069 Lab10 notes</a:t>
            </a:r>
            <a:endParaRPr lang="en-US" sz="3200" dirty="0"/>
          </a:p>
          <a:p>
            <a:r>
              <a:rPr lang="en-US" sz="3200" i="1" dirty="0"/>
              <a:t>Interactive Computer Graphics: A Top-Down Approach with Shader-Based OpenGL</a:t>
            </a:r>
            <a:r>
              <a:rPr lang="en-US" sz="3200" dirty="0"/>
              <a:t>, </a:t>
            </a:r>
            <a:r>
              <a:rPr lang="en-US" sz="3200" b="1"/>
              <a:t>Chapter 7</a:t>
            </a: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A0494-4C09-4550-82AD-B97EAEC68E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  <a:pPr>
                <a:defRPr/>
              </a:pPr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2039717"/>
      </p:ext>
    </p:extLst>
  </p:cSld>
  <p:clrMapOvr>
    <a:masterClrMapping/>
  </p:clrMapOvr>
</p:sld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00"/>
      </a:dk2>
      <a:lt2>
        <a:srgbClr val="CCECFF"/>
      </a:lt2>
      <a:accent1>
        <a:srgbClr val="6699FF"/>
      </a:accent1>
      <a:accent2>
        <a:srgbClr val="66CCFF"/>
      </a:accent2>
      <a:accent3>
        <a:srgbClr val="FFFFFF"/>
      </a:accent3>
      <a:accent4>
        <a:srgbClr val="000000"/>
      </a:accent4>
      <a:accent5>
        <a:srgbClr val="B8CAFF"/>
      </a:accent5>
      <a:accent6>
        <a:srgbClr val="5CB9E7"/>
      </a:accent6>
      <a:hlink>
        <a:srgbClr val="CC99FF"/>
      </a:hlink>
      <a:folHlink>
        <a:srgbClr val="00CCCC"/>
      </a:folHlink>
    </a:clrScheme>
    <a:fontScheme name="Soaring">
      <a:majorFont>
        <a:latin typeface="Comic Sans MS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137160" rIns="91440" bIns="13716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137160" rIns="91440" bIns="13716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D:\ProgramFiles2000\Microsoft Office\Templates\Presentation Designs\Soaring.pot</Template>
  <TotalTime>71445</TotalTime>
  <Words>334</Words>
  <Application>Microsoft Office PowerPoint</Application>
  <PresentationFormat>On-screen Show (4:3)</PresentationFormat>
  <Paragraphs>57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新細明體</vt:lpstr>
      <vt:lpstr>Arial</vt:lpstr>
      <vt:lpstr>Comic Sans MS</vt:lpstr>
      <vt:lpstr>Courier New</vt:lpstr>
      <vt:lpstr>Times New Roman</vt:lpstr>
      <vt:lpstr>Wingdings</vt:lpstr>
      <vt:lpstr>Soaring</vt:lpstr>
      <vt:lpstr>COMP 3069 Computer Graphics</vt:lpstr>
      <vt:lpstr>Contents</vt:lpstr>
      <vt:lpstr>Set-up of Lab 10</vt:lpstr>
      <vt:lpstr>Default Display</vt:lpstr>
      <vt:lpstr>More Displays</vt:lpstr>
      <vt:lpstr>Setup Vertex Attributes </vt:lpstr>
      <vt:lpstr>Jaggies</vt:lpstr>
      <vt:lpstr>OpenGL glGetIntegerv() </vt:lpstr>
      <vt:lpstr>Calling glGetIntegerv()</vt:lpstr>
      <vt:lpstr>Results after glGetIntegerv() </vt:lpstr>
      <vt:lpstr>In window.h</vt:lpstr>
      <vt:lpstr>Results after 2*Multisampling</vt:lpstr>
      <vt:lpstr>Results after 4*Multisampling</vt:lpstr>
      <vt:lpstr>Results after 8*Multisampling</vt:lpstr>
      <vt:lpstr>Results after 16*Multisampling</vt:lpstr>
      <vt:lpstr>References</vt:lpstr>
    </vt:vector>
  </TitlesOfParts>
  <Company>Prentice-Hall Publishing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subject>Basic Concepts</dc:subject>
  <dc:creator>Kip Irvine</dc:creator>
  <cp:lastModifiedBy>Sean He</cp:lastModifiedBy>
  <cp:revision>1147</cp:revision>
  <cp:lastPrinted>1601-01-01T00:00:00Z</cp:lastPrinted>
  <dcterms:created xsi:type="dcterms:W3CDTF">2002-05-30T02:31:33Z</dcterms:created>
  <dcterms:modified xsi:type="dcterms:W3CDTF">2024-12-01T12:51:42Z</dcterms:modified>
</cp:coreProperties>
</file>