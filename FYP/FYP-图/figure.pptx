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7A2"/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0"/>
  </p:normalViewPr>
  <p:slideViewPr>
    <p:cSldViewPr snapToGrid="0">
      <p:cViewPr>
        <p:scale>
          <a:sx n="127" d="100"/>
          <a:sy n="127" d="100"/>
        </p:scale>
        <p:origin x="-728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5AFD2A-0F9D-644A-A1CE-91A1373BE355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116C7-C4AF-B747-8A48-8E87D6FF5C6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直线连接符 50"/>
          <p:cNvCxnSpPr/>
          <p:nvPr/>
        </p:nvCxnSpPr>
        <p:spPr>
          <a:xfrm>
            <a:off x="13230860" y="2896235"/>
            <a:ext cx="0" cy="5175250"/>
          </a:xfrm>
          <a:prstGeom prst="line">
            <a:avLst/>
          </a:prstGeom>
          <a:ln w="28575">
            <a:solidFill>
              <a:srgbClr val="3B82F6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圆角矩形 1"/>
          <p:cNvSpPr/>
          <p:nvPr/>
        </p:nvSpPr>
        <p:spPr>
          <a:xfrm>
            <a:off x="2413000" y="152400"/>
            <a:ext cx="6604000" cy="698500"/>
          </a:xfrm>
          <a:prstGeom prst="roundRect">
            <a:avLst>
              <a:gd name="adj" fmla="val 12000"/>
            </a:avLst>
          </a:prstGeom>
          <a:solidFill>
            <a:srgbClr val="E6ECF0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b="1">
                <a:solidFill>
                  <a:srgbClr val="191919"/>
                </a:solidFill>
                <a:latin typeface="Arial" panose="020B0604020202090204" pitchFamily="34" charset="0"/>
              </a:rPr>
              <a:t>Prompt-engineering-based Hallucination Detection,</a:t>
            </a:r>
            <a:endParaRPr kumimoji="1" lang="en-GB" altLang="zh-CN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GB" altLang="zh-CN" b="1">
                <a:solidFill>
                  <a:srgbClr val="191919"/>
                </a:solidFill>
                <a:latin typeface="Arial" panose="020B0604020202090204" pitchFamily="34" charset="0"/>
              </a:rPr>
              <a:t>Estimation and Mitigation for large language models</a:t>
            </a:r>
            <a:endParaRPr kumimoji="1" lang="zh-CN" altLang="en-US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56845" y="952500"/>
            <a:ext cx="6350000" cy="660400"/>
          </a:xfrm>
          <a:prstGeom prst="roundRect">
            <a:avLst>
              <a:gd name="adj" fmla="val 12000"/>
            </a:avLst>
          </a:prstGeom>
          <a:solidFill>
            <a:srgbClr val="F0F3F6"/>
          </a:solidFill>
          <a:ln w="1905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Input Layer</a:t>
            </a:r>
            <a:endParaRPr kumimoji="1" lang="en-GB" altLang="zh-CN" sz="16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•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</a:rPr>
              <a:t>Claim / Question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 (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q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)    </a:t>
            </a:r>
            <a:r>
              <a:rPr kumimoji="1" lang="en-US" altLang="en-GB" sz="1600" b="1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US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•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</a:rPr>
              <a:t>Evidence Context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 (e)</a:t>
            </a:r>
            <a:r>
              <a:rPr kumimoji="1" lang="en-US" altLang="en-GB" sz="1600" b="1">
                <a:solidFill>
                  <a:srgbClr val="191919"/>
                </a:solidFill>
                <a:latin typeface="Arial" panose="020B0604020202090204" pitchFamily="34" charset="0"/>
              </a:rPr>
              <a:t>(optional)</a:t>
            </a:r>
            <a:endParaRPr kumimoji="1" lang="en-US" altLang="en-GB" sz="1600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587500" y="1950720"/>
            <a:ext cx="3326130" cy="787400"/>
          </a:xfrm>
          <a:prstGeom prst="roundRect">
            <a:avLst>
              <a:gd name="adj" fmla="val 12000"/>
            </a:avLst>
          </a:prstGeom>
          <a:solidFill>
            <a:srgbClr val="E3F2F2"/>
          </a:solidFill>
          <a:ln w="1905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500" b="1">
                <a:solidFill>
                  <a:srgbClr val="191919"/>
                </a:solidFill>
                <a:latin typeface="Arial" panose="020B0604020202090204" pitchFamily="34" charset="0"/>
              </a:rPr>
              <a:t>LLM Generation Module</a:t>
            </a:r>
            <a:r>
              <a:rPr kumimoji="1" lang="en-US" altLang="en-GB" sz="1500" b="1">
                <a:solidFill>
                  <a:srgbClr val="191919"/>
                </a:solidFill>
                <a:latin typeface="Arial" panose="020B0604020202090204" pitchFamily="34" charset="0"/>
              </a:rPr>
              <a:t>(llama2:7b)</a:t>
            </a:r>
            <a:endParaRPr kumimoji="1" lang="en-GB" altLang="zh-CN" sz="15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500" b="1">
                <a:solidFill>
                  <a:srgbClr val="191919"/>
                </a:solidFill>
                <a:latin typeface="Arial" panose="020B0604020202090204" pitchFamily="34" charset="0"/>
              </a:rPr>
              <a:t>• </a:t>
            </a:r>
            <a:r>
              <a:rPr kumimoji="1" lang="en-GB" altLang="zh-CN" sz="1500">
                <a:solidFill>
                  <a:srgbClr val="191919"/>
                </a:solidFill>
                <a:latin typeface="Arial" panose="020B0604020202090204" pitchFamily="34" charset="0"/>
              </a:rPr>
              <a:t>Generate Initial Answer</a:t>
            </a:r>
            <a:r>
              <a:rPr kumimoji="1" lang="en-GB" altLang="zh-CN" sz="1500" b="1">
                <a:solidFill>
                  <a:srgbClr val="191919"/>
                </a:solidFill>
                <a:latin typeface="Arial" panose="020B0604020202090204" pitchFamily="34" charset="0"/>
              </a:rPr>
              <a:t> (a)</a:t>
            </a:r>
            <a:endParaRPr kumimoji="1" lang="zh-CN" altLang="en-US" sz="1500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69620" y="3162935"/>
            <a:ext cx="5016500" cy="3631565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19050">
            <a:solidFill>
              <a:srgbClr val="323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>
              <a:lnSpc>
                <a:spcPct val="70000"/>
              </a:lnSpc>
            </a:pPr>
            <a:r>
              <a:rPr lang="en-US" altLang="zh-CN" b="1">
                <a:sym typeface="+mn-ea"/>
              </a:rPr>
              <a:t>+</a:t>
            </a:r>
            <a:endParaRPr kumimoji="1" lang="zh-CN" altLang="en-US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1477645" y="3556635"/>
            <a:ext cx="3610610" cy="532765"/>
          </a:xfrm>
          <a:prstGeom prst="roundRect">
            <a:avLst>
              <a:gd name="adj" fmla="val 12000"/>
            </a:avLst>
          </a:prstGeom>
          <a:solidFill>
            <a:srgbClr val="D7ECF8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</a:rPr>
              <a:t>LLM</a:t>
            </a:r>
            <a:r>
              <a:rPr kumimoji="1" lang="en-US" altLang="en-GB" sz="1400" b="1">
                <a:solidFill>
                  <a:srgbClr val="191919"/>
                </a:solidFill>
                <a:latin typeface="Arial" panose="020B0604020202090204" pitchFamily="34" charset="0"/>
              </a:rPr>
              <a:t>-as-a-</a:t>
            </a:r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</a:rPr>
              <a:t>Judge
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Evaluate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semantic correctness 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of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(q, a, e)</a:t>
            </a:r>
            <a:endParaRPr kumimoji="1" lang="en-US" altLang="zh-CN" sz="1400" b="1">
              <a:solidFill>
                <a:srgbClr val="19191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1400175" y="4380865"/>
            <a:ext cx="3688080" cy="724535"/>
          </a:xfrm>
          <a:prstGeom prst="roundRect">
            <a:avLst>
              <a:gd name="adj" fmla="val 12000"/>
            </a:avLst>
          </a:prstGeom>
          <a:solidFill>
            <a:srgbClr val="DDF2E1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</a:rPr>
              <a:t>NLI</a:t>
            </a:r>
            <a:r>
              <a:rPr kumimoji="1" lang="en-US" altLang="en-GB" sz="1400" b="1">
                <a:solidFill>
                  <a:srgbClr val="191919"/>
                </a:solidFill>
                <a:latin typeface="Arial" panose="020B0604020202090204" pitchFamily="34" charset="0"/>
              </a:rPr>
              <a:t>-based</a:t>
            </a:r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</a:rPr>
              <a:t> Model</a:t>
            </a:r>
            <a:endParaRPr kumimoji="1" lang="en-GB" altLang="zh-CN" sz="14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GB" altLang="zh-CN" sz="1400">
                <a:solidFill>
                  <a:srgbClr val="191919"/>
                </a:solidFill>
                <a:latin typeface="Arial" panose="020B0604020202090204" pitchFamily="34" charset="0"/>
              </a:rPr>
              <a:t>Evaluate 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</a:rPr>
              <a:t>entailment / contradiction</a:t>
            </a:r>
            <a:r>
              <a:rPr kumimoji="1" lang="en-US" altLang="en-GB" sz="1400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between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answer 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and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reference context</a:t>
            </a:r>
            <a:endParaRPr kumimoji="1" lang="en-US" altLang="zh-CN" sz="1400" b="1">
              <a:solidFill>
                <a:srgbClr val="19191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899160" y="5398135"/>
            <a:ext cx="4756785" cy="532765"/>
          </a:xfrm>
          <a:prstGeom prst="roundRect">
            <a:avLst>
              <a:gd name="adj" fmla="val 12000"/>
            </a:avLst>
          </a:prstGeom>
          <a:solidFill>
            <a:srgbClr val="E9F4DC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</a:rPr>
              <a:t>SelfCheckGPT</a:t>
            </a:r>
            <a:endParaRPr kumimoji="1" lang="en-GB" altLang="zh-CN" sz="14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</a:rPr>
              <a:t>Evaluate 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consistency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</a:rPr>
              <a:t> across sampled answers</a:t>
            </a:r>
            <a:endParaRPr kumimoji="1" lang="en-US" altLang="zh-CN" sz="14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2028190" y="7409180"/>
            <a:ext cx="2455545" cy="431800"/>
          </a:xfrm>
          <a:prstGeom prst="roundRect">
            <a:avLst>
              <a:gd name="adj" fmla="val 20000"/>
            </a:avLst>
          </a:prstGeom>
          <a:solidFill>
            <a:srgbClr val="C6E4F5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300">
                <a:solidFill>
                  <a:srgbClr val="282828"/>
                </a:solidFill>
                <a:latin typeface="Arial" panose="020B0604020202090204" pitchFamily="34" charset="0"/>
              </a:rPr>
              <a:t>Semantic orrectness Score</a:t>
            </a:r>
            <a:endParaRPr kumimoji="1" lang="en-US" altLang="zh-CN" sz="1300">
              <a:solidFill>
                <a:srgbClr val="282828"/>
              </a:solidFill>
              <a:latin typeface="Arial" panose="020B0604020202090204" pitchFamily="34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923665" y="8352790"/>
            <a:ext cx="2286635" cy="462280"/>
          </a:xfrm>
          <a:prstGeom prst="roundRect">
            <a:avLst>
              <a:gd name="adj" fmla="val 20000"/>
            </a:avLst>
          </a:prstGeom>
          <a:solidFill>
            <a:srgbClr val="C6EACE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sz="1300">
                <a:solidFill>
                  <a:srgbClr val="282828"/>
                </a:solidFill>
                <a:latin typeface="Arial" panose="020B0604020202090204" pitchFamily="34" charset="0"/>
              </a:rPr>
              <a:t>NLI Signal</a:t>
            </a:r>
            <a:endParaRPr kumimoji="1" lang="en-GB" altLang="zh-CN" sz="1300">
              <a:solidFill>
                <a:srgbClr val="282828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GB" altLang="zh-CN" sz="1300">
                <a:solidFill>
                  <a:srgbClr val="282828"/>
                </a:solidFill>
                <a:latin typeface="Arial" panose="020B0604020202090204" pitchFamily="34" charset="0"/>
              </a:rPr>
              <a:t>(entailment / contradiction)</a:t>
            </a:r>
            <a:endParaRPr kumimoji="1" lang="zh-CN" altLang="en-US" sz="1300">
              <a:solidFill>
                <a:srgbClr val="282828"/>
              </a:solidFill>
              <a:latin typeface="Arial" panose="020B0604020202090204" pitchFamily="34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765" y="7639685"/>
            <a:ext cx="1697355" cy="431800"/>
          </a:xfrm>
          <a:prstGeom prst="roundRect">
            <a:avLst>
              <a:gd name="adj" fmla="val 20000"/>
            </a:avLst>
          </a:prstGeom>
          <a:solidFill>
            <a:srgbClr val="C9E9EB">
              <a:alpha val="92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GB" altLang="zh-CN" sz="1300">
                <a:solidFill>
                  <a:srgbClr val="282828"/>
                </a:solidFill>
                <a:latin typeface="Arial" panose="020B0604020202090204" pitchFamily="34" charset="0"/>
              </a:rPr>
              <a:t>Consistency Signal</a:t>
            </a:r>
            <a:endParaRPr kumimoji="1" lang="zh-CN" altLang="en-US" sz="1300">
              <a:solidFill>
                <a:srgbClr val="282828"/>
              </a:solidFill>
              <a:latin typeface="Arial" panose="020B0604020202090204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7429500" y="889000"/>
            <a:ext cx="4572000" cy="699135"/>
          </a:xfrm>
          <a:prstGeom prst="roundRect">
            <a:avLst>
              <a:gd name="adj" fmla="val 12000"/>
            </a:avLst>
          </a:prstGeom>
          <a:solidFill>
            <a:srgbClr val="E6F1EC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500" b="1">
                <a:solidFill>
                  <a:srgbClr val="191919"/>
                </a:solidFill>
                <a:latin typeface="Arial" panose="020B0604020202090204" pitchFamily="34" charset="0"/>
              </a:rPr>
              <a:t>Score Aggregation &amp; Calibration</a:t>
            </a:r>
            <a:endParaRPr kumimoji="1" lang="en-GB" altLang="zh-CN" sz="15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500">
                <a:solidFill>
                  <a:srgbClr val="191919"/>
                </a:solidFill>
                <a:latin typeface="Arial" panose="020B0604020202090204" pitchFamily="34" charset="0"/>
              </a:rPr>
              <a:t>Multi-signal Weighted Aggregation</a:t>
            </a:r>
            <a:endParaRPr kumimoji="1" lang="en-US" altLang="zh-CN" sz="1500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500">
                <a:solidFill>
                  <a:srgbClr val="191919"/>
                </a:solidFill>
                <a:latin typeface="Arial" panose="020B0604020202090204" pitchFamily="34" charset="0"/>
              </a:rPr>
              <a:t>+ Optional Calibration (dataset-dependent)</a:t>
            </a:r>
            <a:endParaRPr kumimoji="1" lang="en-US" altLang="zh-CN" sz="15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429500" y="1950720"/>
            <a:ext cx="4610100" cy="787400"/>
          </a:xfrm>
          <a:prstGeom prst="roundRect">
            <a:avLst>
              <a:gd name="adj" fmla="val 10000"/>
            </a:avLst>
          </a:prstGeom>
          <a:solidFill>
            <a:srgbClr val="F8F6F2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Decision Module (Thresholds)</a:t>
            </a:r>
            <a:endParaRPr kumimoji="1" lang="en-GB" altLang="zh-CN" sz="16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l"/>
            <a:r>
              <a:rPr kumimoji="1" lang="en-US" altLang="en-GB" sz="1200" b="1">
                <a:solidFill>
                  <a:srgbClr val="191919"/>
                </a:solidFill>
                <a:latin typeface="Arial" panose="020B0604020202090204" pitchFamily="34" charset="0"/>
              </a:rPr>
              <a:t>High confidence      Medium</a:t>
            </a:r>
            <a:r>
              <a:rPr kumimoji="1" lang="en-US" altLang="en-GB" sz="1200" b="1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 confidence        Low confidence</a:t>
            </a:r>
            <a:endParaRPr kumimoji="1" lang="en-GB" altLang="zh-CN" sz="1600" b="1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l"/>
            <a:r>
              <a:rPr kumimoji="1" lang="en-US" altLang="en-GB" sz="16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 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s ≥ t_high</a:t>
            </a:r>
            <a:r>
              <a:rPr kumimoji="1" lang="en-US" altLang="en-GB" sz="16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      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t_low ≤ s &lt; t_high</a:t>
            </a:r>
            <a:r>
              <a:rPr kumimoji="1" lang="en-US" altLang="en-GB" sz="1600">
                <a:solidFill>
                  <a:srgbClr val="191919"/>
                </a:solidFill>
                <a:latin typeface="Arial" panose="020B0604020202090204" pitchFamily="34" charset="0"/>
              </a:rPr>
              <a:t>     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s &lt; t_low</a:t>
            </a:r>
            <a:endParaRPr kumimoji="1" lang="zh-CN" altLang="en-US" sz="16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12382500" y="2295525"/>
            <a:ext cx="1697355" cy="60071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232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</a:rPr>
              <a:t>Accept</a:t>
            </a:r>
            <a:endParaRPr kumimoji="1" lang="en-GB" altLang="zh-CN" sz="1600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</a:rPr>
              <a:t>Initial</a:t>
            </a:r>
            <a:r>
              <a:rPr kumimoji="1" lang="en-US" altLang="en-GB" sz="1600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GB" altLang="zh-CN" sz="1600">
                <a:solidFill>
                  <a:srgbClr val="191919"/>
                </a:solidFill>
                <a:latin typeface="Arial" panose="020B0604020202090204" pitchFamily="34" charset="0"/>
              </a:rPr>
              <a:t>Answer</a:t>
            </a:r>
            <a:r>
              <a:rPr kumimoji="1" lang="en-US" altLang="en-GB" sz="1600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(a)</a:t>
            </a:r>
            <a:endParaRPr kumimoji="1" lang="zh-CN" altLang="en-US" sz="1600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691880" y="2999105"/>
            <a:ext cx="1697990" cy="533400"/>
          </a:xfrm>
          <a:prstGeom prst="roundRect">
            <a:avLst>
              <a:gd name="adj" fmla="val 12000"/>
            </a:avLst>
          </a:prstGeom>
          <a:solidFill>
            <a:srgbClr val="F9E286"/>
          </a:solidFill>
          <a:ln w="1905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300">
                <a:solidFill>
                  <a:srgbClr val="191919"/>
                </a:solidFill>
                <a:latin typeface="Arial" panose="020B0604020202090204" pitchFamily="34" charset="0"/>
              </a:rPr>
              <a:t>Moderate Mitigation
(Refinement)</a:t>
            </a:r>
            <a:endParaRPr kumimoji="1" lang="zh-CN" altLang="en-US" sz="13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10477500" y="2999105"/>
            <a:ext cx="1459230" cy="532765"/>
          </a:xfrm>
          <a:prstGeom prst="roundRect">
            <a:avLst>
              <a:gd name="adj" fmla="val 12000"/>
            </a:avLst>
          </a:prstGeom>
          <a:solidFill>
            <a:srgbClr val="F4C5A4"/>
          </a:solidFill>
          <a:ln w="1905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300">
                <a:solidFill>
                  <a:srgbClr val="191919"/>
                </a:solidFill>
                <a:latin typeface="Arial" panose="020B0604020202090204" pitchFamily="34" charset="0"/>
              </a:rPr>
              <a:t>Strong Mitigation (Correction)</a:t>
            </a:r>
            <a:endParaRPr kumimoji="1" lang="zh-CN" altLang="en-US" sz="13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9207500" y="3886835"/>
            <a:ext cx="2219325" cy="1898015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endParaRPr kumimoji="1" lang="zh-CN" altLang="en-US" sz="1700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9357995" y="4152900"/>
            <a:ext cx="2011045" cy="315595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US" altLang="zh-CN" sz="1100">
                <a:solidFill>
                  <a:srgbClr val="191919"/>
                </a:solidFill>
                <a:latin typeface="Arial" panose="020B0604020202090204" pitchFamily="34" charset="0"/>
              </a:rPr>
              <a:t>Candidate Generation</a:t>
            </a:r>
            <a:endParaRPr kumimoji="1" lang="en-US" altLang="zh-CN" sz="1100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1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(prompt-engineering-based)</a:t>
            </a:r>
            <a:endParaRPr kumimoji="1" lang="en-US" altLang="zh-CN" sz="1100" b="1">
              <a:solidFill>
                <a:srgbClr val="19191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9478645" y="4610100"/>
            <a:ext cx="1697355" cy="315595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US" altLang="zh-CN" sz="1100">
                <a:solidFill>
                  <a:srgbClr val="191919"/>
                </a:solidFill>
                <a:latin typeface="Arial" panose="020B0604020202090204" pitchFamily="34" charset="0"/>
              </a:rPr>
              <a:t>Candidate Filtering</a:t>
            </a:r>
            <a:endParaRPr kumimoji="1" lang="en-US" altLang="zh-CN" sz="1100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ctr"/>
            <a:r>
              <a:rPr kumimoji="1" lang="en-US" altLang="zh-CN" sz="1100">
                <a:solidFill>
                  <a:srgbClr val="191919"/>
                </a:solidFill>
                <a:latin typeface="Arial" panose="020B0604020202090204" pitchFamily="34" charset="0"/>
              </a:rPr>
              <a:t>(consistency &amp; validity) </a:t>
            </a:r>
            <a:endParaRPr kumimoji="1" lang="en-US" altLang="zh-CN" sz="11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9518650" y="5073650"/>
            <a:ext cx="1595755" cy="23368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US" altLang="zh-CN" sz="1100">
                <a:solidFill>
                  <a:srgbClr val="191919"/>
                </a:solidFill>
                <a:latin typeface="Arial" panose="020B0604020202090204" pitchFamily="34" charset="0"/>
              </a:rPr>
              <a:t>Candidate Reranking </a:t>
            </a:r>
            <a:endParaRPr kumimoji="1" lang="en-US" altLang="zh-CN" sz="11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9669780" y="5455285"/>
            <a:ext cx="1387475" cy="233680"/>
          </a:xfrm>
          <a:prstGeom prst="roundRect">
            <a:avLst>
              <a:gd name="adj" fmla="val 12000"/>
            </a:avLst>
          </a:prstGeom>
          <a:solidFill>
            <a:srgbClr val="F8F8F8"/>
          </a:solidFill>
          <a:ln w="19050">
            <a:solidFill>
              <a:srgbClr val="646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000">
                <a:solidFill>
                  <a:srgbClr val="191919"/>
                </a:solidFill>
                <a:latin typeface="Arial" panose="020B0604020202090204" pitchFamily="34" charset="0"/>
              </a:rPr>
              <a:t>Candida</a:t>
            </a:r>
            <a:r>
              <a:rPr kumimoji="1" lang="en-US" altLang="en-GB" sz="1000">
                <a:solidFill>
                  <a:srgbClr val="191919"/>
                </a:solidFill>
                <a:latin typeface="Arial" panose="020B0604020202090204" pitchFamily="34" charset="0"/>
              </a:rPr>
              <a:t>t</a:t>
            </a:r>
            <a:r>
              <a:rPr kumimoji="1" lang="en-GB" altLang="zh-CN" sz="1000">
                <a:solidFill>
                  <a:srgbClr val="191919"/>
                </a:solidFill>
                <a:latin typeface="Arial" panose="020B0604020202090204" pitchFamily="34" charset="0"/>
              </a:rPr>
              <a:t>e</a:t>
            </a:r>
            <a:r>
              <a:rPr kumimoji="1" lang="en-US" altLang="en-GB" sz="1000">
                <a:solidFill>
                  <a:srgbClr val="191919"/>
                </a:solidFill>
                <a:latin typeface="Arial" panose="020B0604020202090204" pitchFamily="34" charset="0"/>
              </a:rPr>
              <a:t> S</a:t>
            </a:r>
            <a:r>
              <a:rPr kumimoji="1" lang="en-GB" altLang="zh-CN" sz="1000">
                <a:solidFill>
                  <a:srgbClr val="191919"/>
                </a:solidFill>
                <a:latin typeface="Arial" panose="020B0604020202090204" pitchFamily="34" charset="0"/>
              </a:rPr>
              <a:t>election</a:t>
            </a:r>
            <a:endParaRPr kumimoji="1" lang="zh-CN" altLang="en-US" sz="10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176000" y="7299325"/>
            <a:ext cx="1206500" cy="275590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en-GB" sz="1200" b="1">
                <a:solidFill>
                  <a:srgbClr val="232323"/>
                </a:solidFill>
                <a:latin typeface="Arial" panose="020B0604020202090204" pitchFamily="34" charset="0"/>
              </a:rPr>
              <a:t>、</a:t>
            </a:r>
            <a:endParaRPr kumimoji="1" lang="en-US" altLang="en-GB" sz="1200" b="1">
              <a:solidFill>
                <a:srgbClr val="232323"/>
              </a:solidFill>
              <a:latin typeface="Arial" panose="020B0604020202090204" pitchFamily="34" charset="0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12382500" y="3822700"/>
            <a:ext cx="2603500" cy="787400"/>
          </a:xfrm>
          <a:prstGeom prst="roundRect">
            <a:avLst>
              <a:gd name="adj" fmla="val 12000"/>
            </a:avLst>
          </a:prstGeom>
          <a:solidFill>
            <a:srgbClr val="F7EECD"/>
          </a:solidFill>
          <a:ln w="19050">
            <a:solidFill>
              <a:srgbClr val="3C3C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000" b="1" dirty="0">
                <a:solidFill>
                  <a:srgbClr val="191919"/>
                </a:solidFill>
                <a:latin typeface="Arial" panose="020B0604020202090204" pitchFamily="34" charset="0"/>
              </a:rPr>
              <a:t>Dataset-specific Adaptation</a:t>
            </a:r>
            <a:endParaRPr kumimoji="1" lang="en-US" altLang="zh-CN" sz="1000">
              <a:solidFill>
                <a:srgbClr val="191919"/>
              </a:solidFill>
              <a:latin typeface="Arial" panose="020B0604020202090204" pitchFamily="34" charset="0"/>
              <a:sym typeface="+mn-ea"/>
            </a:endParaRPr>
          </a:p>
          <a:p>
            <a:pPr algn="l"/>
            <a:r>
              <a:rPr kumimoji="1" lang="en-US" altLang="zh-CN" sz="10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•</a:t>
            </a:r>
            <a:r>
              <a:rPr kumimoji="1" lang="en-GB" altLang="zh-CN" sz="1000" dirty="0">
                <a:solidFill>
                  <a:srgbClr val="191919"/>
                </a:solidFill>
                <a:latin typeface="Arial" panose="020B0604020202090204" pitchFamily="34" charset="0"/>
              </a:rPr>
              <a:t> FEVER → evidence-based verification
</a:t>
            </a:r>
            <a:r>
              <a:rPr kumimoji="1" lang="en-US" altLang="zh-CN" sz="10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•</a:t>
            </a:r>
            <a:r>
              <a:rPr kumimoji="1" lang="en-GB" altLang="zh-CN" sz="1000" dirty="0">
                <a:solidFill>
                  <a:srgbClr val="191919"/>
                </a:solidFill>
                <a:latin typeface="Arial" panose="020B0604020202090204" pitchFamily="34" charset="0"/>
              </a:rPr>
              <a:t> </a:t>
            </a:r>
            <a:r>
              <a:rPr kumimoji="1" lang="en-GB" altLang="zh-CN" sz="1000" dirty="0" err="1">
                <a:solidFill>
                  <a:srgbClr val="191919"/>
                </a:solidFill>
                <a:latin typeface="Arial" panose="020B0604020202090204" pitchFamily="34" charset="0"/>
              </a:rPr>
              <a:t>TruthfulQA</a:t>
            </a:r>
            <a:r>
              <a:rPr kumimoji="1" lang="en-GB" altLang="zh-CN" sz="1000" dirty="0">
                <a:solidFill>
                  <a:srgbClr val="191919"/>
                </a:solidFill>
                <a:latin typeface="Arial" panose="020B0604020202090204" pitchFamily="34" charset="0"/>
              </a:rPr>
              <a:t> → multi-reference evaluation</a:t>
            </a:r>
            <a:endParaRPr kumimoji="1" lang="en-GB" altLang="zh-CN" sz="1000" dirty="0">
              <a:solidFill>
                <a:srgbClr val="191919"/>
              </a:solidFill>
              <a:latin typeface="Arial" panose="020B0604020202090204" pitchFamily="34" charset="0"/>
            </a:endParaRPr>
          </a:p>
          <a:p>
            <a:pPr algn="l"/>
            <a:r>
              <a:rPr kumimoji="1" lang="en-US" altLang="zh-CN" sz="1000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•</a:t>
            </a:r>
            <a:r>
              <a:rPr kumimoji="1" lang="en-GB" altLang="zh-CN" sz="1000" dirty="0">
                <a:solidFill>
                  <a:srgbClr val="191919"/>
                </a:solidFill>
                <a:latin typeface="Arial" panose="020B0604020202090204" pitchFamily="34" charset="0"/>
              </a:rPr>
              <a:t> NQ → extractive span matching</a:t>
            </a:r>
            <a:endParaRPr kumimoji="1" lang="zh-CN" altLang="en-US" sz="1000" dirty="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112510" y="6273800"/>
            <a:ext cx="5636260" cy="419100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GB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Final Answer (a’)</a:t>
            </a:r>
            <a:r>
              <a:rPr kumimoji="1" lang="en-US" altLang="en-GB" sz="1600" b="1">
                <a:solidFill>
                  <a:srgbClr val="191919"/>
                </a:solidFill>
                <a:latin typeface="Arial" panose="020B0604020202090204" pitchFamily="34" charset="0"/>
              </a:rPr>
              <a:t> / </a:t>
            </a:r>
            <a:r>
              <a:rPr kumimoji="1" lang="en-US" altLang="zh-CN" sz="1600" b="1">
                <a:solidFill>
                  <a:srgbClr val="191919"/>
                </a:solidFill>
                <a:latin typeface="Arial" panose="020B0604020202090204" pitchFamily="34" charset="0"/>
              </a:rPr>
              <a:t>Abstain(Best candidate &lt; threshold)</a:t>
            </a:r>
            <a:endParaRPr kumimoji="1" lang="en-US" altLang="zh-CN" sz="1600" b="1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cxnSp>
        <p:nvCxnSpPr>
          <p:cNvPr id="30" name="直线连接符 29"/>
          <p:cNvCxnSpPr/>
          <p:nvPr/>
        </p:nvCxnSpPr>
        <p:spPr>
          <a:xfrm>
            <a:off x="3132455" y="1612900"/>
            <a:ext cx="0" cy="353695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线连接符 30"/>
          <p:cNvCxnSpPr/>
          <p:nvPr/>
        </p:nvCxnSpPr>
        <p:spPr>
          <a:xfrm>
            <a:off x="3132455" y="2706370"/>
            <a:ext cx="0" cy="44577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/>
        </p:nvCxnSpPr>
        <p:spPr>
          <a:xfrm>
            <a:off x="9715500" y="1588135"/>
            <a:ext cx="0" cy="41910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/>
          <p:cNvCxnSpPr/>
          <p:nvPr/>
        </p:nvCxnSpPr>
        <p:spPr>
          <a:xfrm>
            <a:off x="7933690" y="2597785"/>
            <a:ext cx="0" cy="39370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/>
          <p:cNvCxnSpPr/>
          <p:nvPr/>
        </p:nvCxnSpPr>
        <p:spPr>
          <a:xfrm>
            <a:off x="7933690" y="3531235"/>
            <a:ext cx="0" cy="270256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/>
          <p:cNvCxnSpPr/>
          <p:nvPr/>
        </p:nvCxnSpPr>
        <p:spPr>
          <a:xfrm flipH="1">
            <a:off x="9750425" y="8071485"/>
            <a:ext cx="3489325" cy="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1587500" y="3162935"/>
            <a:ext cx="342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b="1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Multi-signal Detection Module</a:t>
            </a:r>
            <a:endParaRPr lang="zh-CN" altLang="en-US"/>
          </a:p>
        </p:txBody>
      </p:sp>
      <p:pic>
        <p:nvPicPr>
          <p:cNvPr id="56" name="图片 55" descr="1078747741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69000" y="7409180"/>
            <a:ext cx="914400" cy="914400"/>
          </a:xfrm>
          <a:prstGeom prst="rect">
            <a:avLst/>
          </a:prstGeom>
        </p:spPr>
      </p:pic>
      <p:cxnSp>
        <p:nvCxnSpPr>
          <p:cNvPr id="57" name="直线连接符 53"/>
          <p:cNvCxnSpPr>
            <a:endCxn id="9" idx="1"/>
          </p:cNvCxnSpPr>
          <p:nvPr/>
        </p:nvCxnSpPr>
        <p:spPr>
          <a:xfrm>
            <a:off x="1228725" y="7625080"/>
            <a:ext cx="799465" cy="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34"/>
          <p:cNvCxnSpPr/>
          <p:nvPr/>
        </p:nvCxnSpPr>
        <p:spPr>
          <a:xfrm>
            <a:off x="11114405" y="2622550"/>
            <a:ext cx="0" cy="338455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线连接符 34"/>
          <p:cNvCxnSpPr>
            <a:endCxn id="15" idx="0"/>
          </p:cNvCxnSpPr>
          <p:nvPr/>
        </p:nvCxnSpPr>
        <p:spPr>
          <a:xfrm flipH="1">
            <a:off x="9540875" y="2622550"/>
            <a:ext cx="17780" cy="376555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9478645" y="3853180"/>
            <a:ext cx="18554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1400" b="1">
                <a:solidFill>
                  <a:srgbClr val="191919"/>
                </a:solidFill>
                <a:latin typeface="Arial" panose="020B0604020202090204" pitchFamily="34" charset="0"/>
                <a:sym typeface="+mn-ea"/>
              </a:rPr>
              <a:t>Mitigation Pipeline</a:t>
            </a:r>
            <a:endParaRPr lang="zh-CN" altLang="en-US" sz="1400"/>
          </a:p>
        </p:txBody>
      </p:sp>
      <p:cxnSp>
        <p:nvCxnSpPr>
          <p:cNvPr id="77" name="肘形连接符 76"/>
          <p:cNvCxnSpPr/>
          <p:nvPr/>
        </p:nvCxnSpPr>
        <p:spPr>
          <a:xfrm rot="5400000" flipH="1" flipV="1">
            <a:off x="5418931" y="2527142"/>
            <a:ext cx="3221672" cy="775335"/>
          </a:xfrm>
          <a:prstGeom prst="bentConnector2">
            <a:avLst/>
          </a:prstGeom>
          <a:ln w="28575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796915" y="4513580"/>
            <a:ext cx="845185" cy="0"/>
          </a:xfrm>
          <a:prstGeom prst="line">
            <a:avLst/>
          </a:prstGeom>
          <a:ln w="28575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642100" y="1304290"/>
            <a:ext cx="826135" cy="0"/>
          </a:xfrm>
          <a:prstGeom prst="straightConnector1">
            <a:avLst/>
          </a:prstGeom>
          <a:ln w="28575">
            <a:solidFill>
              <a:srgbClr val="3B82F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941320" y="4089400"/>
            <a:ext cx="671830" cy="275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+</a:t>
            </a:r>
            <a:endParaRPr lang="en-US" altLang="zh-CN" b="1"/>
          </a:p>
        </p:txBody>
      </p:sp>
      <p:sp>
        <p:nvSpPr>
          <p:cNvPr id="39" name="文本框 38"/>
          <p:cNvSpPr txBox="1"/>
          <p:nvPr/>
        </p:nvSpPr>
        <p:spPr>
          <a:xfrm>
            <a:off x="2941320" y="5105400"/>
            <a:ext cx="516890" cy="315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+</a:t>
            </a:r>
            <a:endParaRPr lang="en-US" altLang="zh-CN" b="1"/>
          </a:p>
        </p:txBody>
      </p:sp>
      <p:sp>
        <p:nvSpPr>
          <p:cNvPr id="40" name="圆角矩形 39"/>
          <p:cNvSpPr/>
          <p:nvPr/>
        </p:nvSpPr>
        <p:spPr>
          <a:xfrm>
            <a:off x="2028190" y="6158230"/>
            <a:ext cx="2170430" cy="532130"/>
          </a:xfrm>
          <a:prstGeom prst="roundRect">
            <a:avLst>
              <a:gd name="adj" fmla="val 12000"/>
            </a:avLst>
          </a:prstGeom>
          <a:solidFill>
            <a:srgbClr val="E9F4DC"/>
          </a:solidFill>
          <a:ln w="19050">
            <a:solidFill>
              <a:srgbClr val="2828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Auxiliary </a:t>
            </a:r>
            <a:r>
              <a:rPr kumimoji="1" lang="en-US" altLang="zh-CN" sz="1400" b="1">
                <a:solidFill>
                  <a:srgbClr val="191919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Signals </a:t>
            </a:r>
            <a:endParaRPr kumimoji="1" lang="en-US" altLang="zh-CN" sz="1400" b="1">
              <a:solidFill>
                <a:srgbClr val="191919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/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</a:rPr>
              <a:t>(</a:t>
            </a:r>
            <a:r>
              <a:rPr kumimoji="1" lang="en-US" altLang="zh-CN" sz="1400">
                <a:solidFill>
                  <a:srgbClr val="191919"/>
                </a:solidFill>
                <a:latin typeface="Arial" panose="020B0604020202090204" pitchFamily="34" charset="0"/>
              </a:rPr>
              <a:t>Dataset-dependent)</a:t>
            </a:r>
            <a:endParaRPr kumimoji="1" lang="en-US" altLang="zh-CN" sz="14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941320" y="5906770"/>
            <a:ext cx="55943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+</a:t>
            </a:r>
            <a:endParaRPr lang="zh-CN" altLang="en-US"/>
          </a:p>
        </p:txBody>
      </p:sp>
      <p:sp>
        <p:nvSpPr>
          <p:cNvPr id="58" name="圆角矩形 57"/>
          <p:cNvSpPr/>
          <p:nvPr/>
        </p:nvSpPr>
        <p:spPr>
          <a:xfrm>
            <a:off x="7266940" y="2999105"/>
            <a:ext cx="1285875" cy="532130"/>
          </a:xfrm>
          <a:prstGeom prst="roundRect">
            <a:avLst>
              <a:gd name="adj" fmla="val 12000"/>
            </a:avLst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kumimoji="1" lang="en-US" altLang="zh-CN" sz="1300">
                <a:solidFill>
                  <a:srgbClr val="191919"/>
                </a:solidFill>
                <a:latin typeface="Arial" panose="020B0604020202090204" pitchFamily="34" charset="0"/>
              </a:rPr>
              <a:t>Keep Answer</a:t>
            </a:r>
            <a:endParaRPr kumimoji="1" lang="en-US" altLang="zh-CN" sz="1300">
              <a:solidFill>
                <a:srgbClr val="191919"/>
              </a:solidFill>
              <a:latin typeface="Arial" panose="020B0604020202090204" pitchFamily="34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9540875" y="3531235"/>
            <a:ext cx="0" cy="180975"/>
          </a:xfrm>
          <a:prstGeom prst="line">
            <a:avLst/>
          </a:prstGeom>
          <a:ln w="28575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1158855" y="3531870"/>
            <a:ext cx="0" cy="165100"/>
          </a:xfrm>
          <a:prstGeom prst="line">
            <a:avLst/>
          </a:prstGeom>
          <a:ln w="28575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9540875" y="3696970"/>
            <a:ext cx="1630045" cy="0"/>
          </a:xfrm>
          <a:prstGeom prst="line">
            <a:avLst/>
          </a:prstGeom>
          <a:ln w="28575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/>
        </p:nvCxnSpPr>
        <p:spPr>
          <a:xfrm>
            <a:off x="10320655" y="3700780"/>
            <a:ext cx="0" cy="186055"/>
          </a:xfrm>
          <a:prstGeom prst="straightConnector1">
            <a:avLst/>
          </a:prstGeom>
          <a:ln w="28575">
            <a:solidFill>
              <a:srgbClr val="3B82F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49"/>
          <p:cNvCxnSpPr/>
          <p:nvPr/>
        </p:nvCxnSpPr>
        <p:spPr>
          <a:xfrm>
            <a:off x="10033000" y="5784850"/>
            <a:ext cx="0" cy="488950"/>
          </a:xfrm>
          <a:prstGeom prst="line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18" idx="2"/>
          </p:cNvCxnSpPr>
          <p:nvPr/>
        </p:nvCxnSpPr>
        <p:spPr>
          <a:xfrm>
            <a:off x="10363835" y="4468495"/>
            <a:ext cx="0" cy="147955"/>
          </a:xfrm>
          <a:prstGeom prst="straightConnector1">
            <a:avLst/>
          </a:prstGeom>
          <a:ln w="19050">
            <a:solidFill>
              <a:srgbClr val="3B82F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>
            <a:off x="10363835" y="4925695"/>
            <a:ext cx="0" cy="147955"/>
          </a:xfrm>
          <a:prstGeom prst="straightConnector1">
            <a:avLst/>
          </a:prstGeom>
          <a:ln w="19050">
            <a:solidFill>
              <a:srgbClr val="3B82F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/>
          <p:nvPr/>
        </p:nvCxnSpPr>
        <p:spPr>
          <a:xfrm>
            <a:off x="10363835" y="5307330"/>
            <a:ext cx="0" cy="147955"/>
          </a:xfrm>
          <a:prstGeom prst="straightConnector1">
            <a:avLst/>
          </a:prstGeom>
          <a:ln w="19050">
            <a:solidFill>
              <a:srgbClr val="3B82F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908426655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WPS 演示</Application>
  <PresentationFormat>宽屏</PresentationFormat>
  <Paragraphs>74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汉仪书宋二KW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af12734@365mso.com</dc:creator>
  <cp:lastModifiedBy>.张鱼洋</cp:lastModifiedBy>
  <cp:revision>14</cp:revision>
  <dcterms:created xsi:type="dcterms:W3CDTF">2026-04-12T09:03:15Z</dcterms:created>
  <dcterms:modified xsi:type="dcterms:W3CDTF">2026-04-12T09:03:15Z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1D7F7DBF459989C6AA6BDA694FA67932_43</vt:lpwstr>
  </property>
</Properties>
</file>